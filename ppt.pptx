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ouyan_aeria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0"/>
            <a:ext cx="7159752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6858000" cy="6858000"/>
          </a:xfrm>
          <a:prstGeom prst="rect">
            <a:avLst/>
          </a:prstGeom>
          <a:solidFill>
            <a:srgbClr val="0A21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45720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FFCC00"/>
                </a:solidFill>
                <a:latin typeface="Cormorant Garamond"/>
              </a:rPr>
              <a:t>VOL.01 · MAY 2026 · 决赛答辩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64008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400" b="1" i="0">
                <a:solidFill>
                  <a:srgbClr val="FFFFFF"/>
                </a:solidFill>
                <a:latin typeface="Microsoft YaHei"/>
              </a:rPr>
              <a:t>68 海里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743200"/>
            <a:ext cx="64008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400" b="1" i="0">
                <a:solidFill>
                  <a:srgbClr val="FFCC00"/>
                </a:solidFill>
                <a:latin typeface="Microsoft YaHei"/>
              </a:rPr>
              <a:t>的 两面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20624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1">
                <a:solidFill>
                  <a:srgbClr val="FFCC00"/>
                </a:solidFill>
                <a:latin typeface="Cormorant Garamond"/>
              </a:rPr>
              <a:t>A Cross-Strait Cultural Translation Project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4663440"/>
            <a:ext cx="2286000" cy="25400"/>
          </a:xfrm>
          <a:prstGeom prst="rect">
            <a:avLst/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4846320"/>
            <a:ext cx="6400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Microsoft YaHei"/>
              </a:rPr>
              <a:t>基于方言连续体的</a:t>
            </a:r>
          </a:p>
          <a:p>
            <a:pPr algn="l"/>
            <a:r>
              <a:rPr sz="1400" b="0" i="0">
                <a:solidFill>
                  <a:srgbClr val="FFFFFF"/>
                </a:solidFill>
                <a:latin typeface="Microsoft YaHei"/>
              </a:rPr>
              <a:t>数字人文文旅产品方案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5216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CC00"/>
                </a:solidFill>
                <a:latin typeface="Microsoft YaHei"/>
              </a:rPr>
              <a:t>郭嘉 · GUO JIA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17220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D9C9A8"/>
                </a:solidFill>
                <a:latin typeface="Microsoft YaHei"/>
              </a:rPr>
              <a:t>复旦大学外国语言文学学院 · 翻译硕士 MTI · 25210120088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28600" y="228600"/>
            <a:ext cx="11734495" cy="25400"/>
          </a:xfrm>
          <a:prstGeom prst="rect">
            <a:avLst/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28600" y="6604000"/>
            <a:ext cx="11734495" cy="25400"/>
          </a:xfrm>
          <a:prstGeom prst="rect">
            <a:avLst/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28600" y="228600"/>
            <a:ext cx="25400" cy="6400800"/>
          </a:xfrm>
          <a:prstGeom prst="rect">
            <a:avLst/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937695" y="228600"/>
            <a:ext cx="25400" cy="6400800"/>
          </a:xfrm>
          <a:prstGeom prst="rect">
            <a:avLst/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0" y="2194560"/>
            <a:ext cx="1219169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1">
                <a:solidFill>
                  <a:srgbClr val="C8552D"/>
                </a:solidFill>
                <a:latin typeface="Cormorant Garamond"/>
              </a:rPr>
              <a:t>CHAPTER · ONE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2743200"/>
            <a:ext cx="12191695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000" b="1" i="0">
                <a:solidFill>
                  <a:srgbClr val="1A1612"/>
                </a:solidFill>
                <a:latin typeface="Microsoft YaHei"/>
              </a:rPr>
              <a:t>为什么是我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0" y="4297680"/>
            <a:ext cx="1219169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1">
                <a:solidFill>
                  <a:srgbClr val="7A5A3A"/>
                </a:solidFill>
                <a:latin typeface="Cormorant Garamond"/>
              </a:rPr>
              <a:t>A Personal Manifesto · 一个人的田野选择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1">
                <a:solidFill>
                  <a:srgbClr val="7A5A3A"/>
                </a:solidFill>
                <a:latin typeface="Cormorant Garamond"/>
              </a:rPr>
              <a:t>FUDAN · 2026 · 68 NM TWO SIDES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0" y="644652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1">
                <a:solidFill>
                  <a:srgbClr val="7A5A3A"/>
                </a:solidFill>
                <a:latin typeface="Cormorant Garamond"/>
              </a:rPr>
              <a:t>02 / 24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C8552D"/>
                </a:solidFill>
                <a:latin typeface="Cormorant Garamond"/>
              </a:rPr>
              <a:t>CHAPTER 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1">
                <a:solidFill>
                  <a:srgbClr val="7A5A3A"/>
                </a:solidFill>
                <a:latin typeface="Cormorant Garamond"/>
              </a:rPr>
              <a:t>Why Me · Why Pingtan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1">
                <a:solidFill>
                  <a:srgbClr val="7A5A3A"/>
                </a:solidFill>
                <a:latin typeface="Cormorant Garamond"/>
              </a:rPr>
              <a:t>个人叙事 · 从潮汕到平潭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05840"/>
            <a:ext cx="1828800" cy="25400"/>
          </a:xfrm>
          <a:prstGeom prst="rect">
            <a:avLst/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1430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7A5A3A"/>
                </a:solidFill>
                <a:latin typeface="Microsoft YaHei"/>
              </a:rPr>
              <a:t>走过近 200 座国内城市之后，我把镜头对准了 68 海里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1">
                <a:solidFill>
                  <a:srgbClr val="7A5A3A"/>
                </a:solidFill>
                <a:latin typeface="Cormorant Garamond"/>
              </a:rPr>
              <a:t>FUDAN · 2026 · 68 NM TWO SIDES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644652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1">
                <a:solidFill>
                  <a:srgbClr val="7A5A3A"/>
                </a:solidFill>
                <a:latin typeface="Cormorant Garamond"/>
              </a:rPr>
              <a:t>03 / 24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55448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1A1612"/>
                </a:solidFill>
                <a:latin typeface="Microsoft YaHei"/>
              </a:rPr>
              <a:t>走过近 200 座国内城市之后，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28600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C8552D"/>
                </a:solidFill>
                <a:latin typeface="Microsoft YaHei"/>
              </a:rPr>
              <a:t>我把镜头对准了 68 海里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566160"/>
            <a:ext cx="2606040" cy="2103120"/>
          </a:xfrm>
          <a:prstGeom prst="rect">
            <a:avLst/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3840480"/>
            <a:ext cx="26060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4600" b="1" i="0">
                <a:solidFill>
                  <a:srgbClr val="1A1612"/>
                </a:solidFill>
                <a:latin typeface="Cormorant Garamond"/>
              </a:rPr>
              <a:t>200+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754880"/>
            <a:ext cx="22402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1A1612"/>
                </a:solidFill>
                <a:latin typeface="Microsoft YaHei"/>
              </a:rPr>
              <a:t>走过的国内城市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27832" y="3566160"/>
            <a:ext cx="2606040" cy="2103120"/>
          </a:xfrm>
          <a:prstGeom prst="rect">
            <a:avLst/>
          </a:prstGeom>
          <a:solidFill>
            <a:srgbClr val="C855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27832" y="3840480"/>
            <a:ext cx="26060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4600" b="1" i="0">
                <a:solidFill>
                  <a:srgbClr val="FFFFFF"/>
                </a:solidFill>
                <a:latin typeface="Cormorant Garamond"/>
              </a:rPr>
              <a:t>MTI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10712" y="4754880"/>
            <a:ext cx="22402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Microsoft YaHei"/>
              </a:rPr>
              <a:t>翻译硕士 · 复旦外文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998464" y="3566160"/>
            <a:ext cx="2606040" cy="2103120"/>
          </a:xfrm>
          <a:prstGeom prst="rect">
            <a:avLst/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98464" y="3840480"/>
            <a:ext cx="26060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4600" b="1" i="0">
                <a:solidFill>
                  <a:srgbClr val="1A1612"/>
                </a:solidFill>
                <a:latin typeface="Cormorant Garamond"/>
              </a:rPr>
              <a:t>68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81344" y="4754880"/>
            <a:ext cx="22402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1A1612"/>
                </a:solidFill>
                <a:latin typeface="Microsoft YaHei"/>
              </a:rPr>
              <a:t>两岸相近距离 · 海里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769096" y="3566160"/>
            <a:ext cx="2606040" cy="2103120"/>
          </a:xfrm>
          <a:prstGeom prst="rect">
            <a:avLst/>
          </a:prstGeom>
          <a:solidFill>
            <a:srgbClr val="1A16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769096" y="3840480"/>
            <a:ext cx="26060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4600" b="1" i="0">
                <a:solidFill>
                  <a:srgbClr val="FFFFFF"/>
                </a:solidFill>
                <a:latin typeface="Cormorant Garamond"/>
              </a:rPr>
              <a:t>潮汕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51976" y="4754880"/>
            <a:ext cx="22402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Microsoft YaHei"/>
              </a:rPr>
              <a:t>天然方言敏感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5897880"/>
            <a:ext cx="11247120" cy="9525"/>
          </a:xfrm>
          <a:prstGeom prst="rect">
            <a:avLst/>
          </a:prstGeom>
          <a:solidFill>
            <a:srgbClr val="D9C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59893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 i="1">
                <a:solidFill>
                  <a:srgbClr val="7A5A3A"/>
                </a:solidFill>
                <a:latin typeface="Microsoft YaHei"/>
              </a:rPr>
              <a:t>翻译硕士 + 潮汕人 + 200 城产品视野 — 找到的最适合自己的田野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C8552D"/>
                </a:solidFill>
                <a:latin typeface="Cormorant Garamond"/>
              </a:rPr>
              <a:t>CHAPTER 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1">
                <a:solidFill>
                  <a:srgbClr val="7A5A3A"/>
                </a:solidFill>
                <a:latin typeface="Cormorant Garamond"/>
              </a:rPr>
              <a:t>Why Pingtan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1">
                <a:solidFill>
                  <a:srgbClr val="7A5A3A"/>
                </a:solidFill>
                <a:latin typeface="Cormorant Garamond"/>
              </a:rPr>
              <a:t>为什么是平潭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05840"/>
            <a:ext cx="1828800" cy="25400"/>
          </a:xfrm>
          <a:prstGeom prst="rect">
            <a:avLst/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1430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7A5A3A"/>
                </a:solidFill>
                <a:latin typeface="Microsoft YaHei"/>
              </a:rPr>
              <a:t>在我走过的近 200 城里，平潭具备打造文旅热点的六大差异化优势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1">
                <a:solidFill>
                  <a:srgbClr val="7A5A3A"/>
                </a:solidFill>
                <a:latin typeface="Cormorant Garamond"/>
              </a:rPr>
              <a:t>FUDAN · 2026 · 68 NM TWO SIDES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644652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1">
                <a:solidFill>
                  <a:srgbClr val="7A5A3A"/>
                </a:solidFill>
                <a:latin typeface="Cormorant Garamond"/>
              </a:rPr>
              <a:t>04 / 24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55448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A1612"/>
                </a:solidFill>
                <a:latin typeface="Microsoft YaHei"/>
              </a:rPr>
              <a:t>平潭，不是又一个网红海岛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10312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7A5A3A"/>
                </a:solidFill>
                <a:latin typeface="Microsoft YaHei"/>
              </a:rPr>
              <a:t>—— 它是一个能承载 IP 的文化地理坐标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788920"/>
            <a:ext cx="3657600" cy="1325880"/>
          </a:xfrm>
          <a:prstGeom prst="rect">
            <a:avLst/>
          </a:prstGeom>
          <a:solidFill>
            <a:srgbClr val="FFFFFF"/>
          </a:solidFill>
          <a:ln w="9525">
            <a:solidFill>
              <a:srgbClr val="D9C9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792" y="2898648"/>
            <a:ext cx="5486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C8552D"/>
                </a:solidFill>
                <a:latin typeface="Cormorant Garamond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2926080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1612"/>
                </a:solidFill>
                <a:latin typeface="Microsoft YaHei"/>
              </a:rPr>
              <a:t>地理坐标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" y="3383280"/>
            <a:ext cx="3328416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7A5A3A"/>
                </a:solidFill>
                <a:latin typeface="Microsoft YaHei"/>
              </a:rPr>
              <a:t>大陆距台湾最近的岛屿（猴研岛 68 海里 / 125 km），地图上无法替代的地缘坐标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51960" y="2788920"/>
            <a:ext cx="3657600" cy="1325880"/>
          </a:xfrm>
          <a:prstGeom prst="rect">
            <a:avLst/>
          </a:prstGeom>
          <a:solidFill>
            <a:srgbClr val="FFFFFF"/>
          </a:solidFill>
          <a:ln w="9525">
            <a:solidFill>
              <a:srgbClr val="D9C9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16552" y="2898648"/>
            <a:ext cx="5486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C8552D"/>
                </a:solidFill>
                <a:latin typeface="Cormorant Garamond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0" y="2926080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1612"/>
                </a:solidFill>
                <a:latin typeface="Microsoft YaHei"/>
              </a:rPr>
              <a:t>语言活态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16552" y="3383280"/>
            <a:ext cx="3328416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7A5A3A"/>
                </a:solidFill>
                <a:latin typeface="Microsoft YaHei"/>
              </a:rPr>
              <a:t>属闽东语·福州语系，与台湾闽南语形成"两岸方言连续体"实验场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46720" y="2788920"/>
            <a:ext cx="3657600" cy="1325880"/>
          </a:xfrm>
          <a:prstGeom prst="rect">
            <a:avLst/>
          </a:prstGeom>
          <a:solidFill>
            <a:srgbClr val="FFFFFF"/>
          </a:solidFill>
          <a:ln w="9525">
            <a:solidFill>
              <a:srgbClr val="D9C9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11312" y="2898648"/>
            <a:ext cx="5486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C8552D"/>
                </a:solidFill>
                <a:latin typeface="Cormorant Garamond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23960" y="2926080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1612"/>
                </a:solidFill>
                <a:latin typeface="Microsoft YaHei"/>
              </a:rPr>
              <a:t>建筑独特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11312" y="3383280"/>
            <a:ext cx="3328416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7A5A3A"/>
                </a:solidFill>
                <a:latin typeface="Microsoft YaHei"/>
              </a:rPr>
              <a:t>北港村花岗岩石厝是中国南方海岸生存美学的活化石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279392"/>
            <a:ext cx="3657600" cy="1325880"/>
          </a:xfrm>
          <a:prstGeom prst="rect">
            <a:avLst/>
          </a:prstGeom>
          <a:solidFill>
            <a:srgbClr val="FFFFFF"/>
          </a:solidFill>
          <a:ln w="9525">
            <a:solidFill>
              <a:srgbClr val="D9C9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1792" y="4389120"/>
            <a:ext cx="5486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C8552D"/>
                </a:solidFill>
                <a:latin typeface="Cormorant Garamond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34440" y="4416552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1612"/>
                </a:solidFill>
                <a:latin typeface="Microsoft YaHei"/>
              </a:rPr>
              <a:t>自然奇观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1792" y="4873752"/>
            <a:ext cx="3328416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7A5A3A"/>
                </a:solidFill>
                <a:latin typeface="Microsoft YaHei"/>
              </a:rPr>
              <a:t>4—8 月蓝眼泪、长江澳风车田、东海仙境海蚀竖井三连组合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251960" y="4279392"/>
            <a:ext cx="3657600" cy="1325880"/>
          </a:xfrm>
          <a:prstGeom prst="rect">
            <a:avLst/>
          </a:prstGeom>
          <a:solidFill>
            <a:srgbClr val="FFFFFF"/>
          </a:solidFill>
          <a:ln w="9525">
            <a:solidFill>
              <a:srgbClr val="D9C9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416552" y="4389120"/>
            <a:ext cx="5486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C8552D"/>
                </a:solidFill>
                <a:latin typeface="Cormorant Garamond"/>
              </a:rPr>
              <a:t>05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0" y="4416552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1612"/>
                </a:solidFill>
                <a:latin typeface="Microsoft YaHei"/>
              </a:rPr>
              <a:t>政策红利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16552" y="4873752"/>
            <a:ext cx="3328416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7A5A3A"/>
                </a:solidFill>
                <a:latin typeface="Microsoft YaHei"/>
              </a:rPr>
              <a:t>国家级两岸融合发展示范区 · 平潭综合实验区战略支持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046720" y="4279392"/>
            <a:ext cx="3657600" cy="1325880"/>
          </a:xfrm>
          <a:prstGeom prst="rect">
            <a:avLst/>
          </a:prstGeom>
          <a:solidFill>
            <a:srgbClr val="FFFFFF"/>
          </a:solidFill>
          <a:ln w="9525">
            <a:solidFill>
              <a:srgbClr val="D9C9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11312" y="4389120"/>
            <a:ext cx="5486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C8552D"/>
                </a:solidFill>
                <a:latin typeface="Cormorant Garamond"/>
              </a:rPr>
              <a:t>06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823960" y="4416552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1612"/>
                </a:solidFill>
                <a:latin typeface="Microsoft YaHei"/>
              </a:rPr>
              <a:t>客流基本盘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11312" y="4873752"/>
            <a:ext cx="3328416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7A5A3A"/>
                </a:solidFill>
                <a:latin typeface="Microsoft YaHei"/>
              </a:rPr>
              <a:t>2025 年客流 1,200 万人次，旅游业对 GDP 贡献率从 6.5% 跃升至 14%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C8552D"/>
                </a:solidFill>
                <a:latin typeface="Cormorant Garamond"/>
              </a:rPr>
              <a:t>CHAPTER 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1">
                <a:solidFill>
                  <a:srgbClr val="7A5A3A"/>
                </a:solidFill>
                <a:latin typeface="Cormorant Garamond"/>
              </a:rPr>
              <a:t>Trend Research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1">
                <a:solidFill>
                  <a:srgbClr val="7A5A3A"/>
                </a:solidFill>
                <a:latin typeface="Cormorant Garamond"/>
              </a:rPr>
              <a:t>行业趋势 · 三条上升曲线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05840"/>
            <a:ext cx="1828800" cy="25400"/>
          </a:xfrm>
          <a:prstGeom prst="rect">
            <a:avLst/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1430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7A5A3A"/>
                </a:solidFill>
                <a:latin typeface="Microsoft YaHei"/>
              </a:rPr>
              <a:t>基于平潭综合实验区文旅局真实数据 + 行业趋势研判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1">
                <a:solidFill>
                  <a:srgbClr val="7A5A3A"/>
                </a:solidFill>
                <a:latin typeface="Cormorant Garamond"/>
              </a:rPr>
              <a:t>FUDAN · 2026 · 68 NM TWO SIDES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644652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1">
                <a:solidFill>
                  <a:srgbClr val="7A5A3A"/>
                </a:solidFill>
                <a:latin typeface="Cormorant Garamond"/>
              </a:rPr>
              <a:t>05 / 24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55448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A1612"/>
                </a:solidFill>
                <a:latin typeface="Microsoft YaHei"/>
              </a:rPr>
              <a:t>我的产品 与三条上升曲线方向一致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560320"/>
            <a:ext cx="3703320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D9C9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792" y="2724912"/>
            <a:ext cx="502920" cy="411480"/>
          </a:xfrm>
          <a:prstGeom prst="rect">
            <a:avLst/>
          </a:prstGeom>
          <a:solidFill>
            <a:srgbClr val="1A16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792" y="2724912"/>
            <a:ext cx="50292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FFCC00"/>
                </a:solidFill>
                <a:latin typeface="Cormorant Garamond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2743200"/>
            <a:ext cx="2788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1612"/>
                </a:solidFill>
                <a:latin typeface="Microsoft YaHei"/>
              </a:rPr>
              <a:t>平潭客流持续爆发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3337560"/>
            <a:ext cx="333756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7A5A3A"/>
                </a:solidFill>
                <a:latin typeface="Microsoft YaHei"/>
              </a:rPr>
              <a:t>2024 年 1,050 万人次（过夜率首破 50%）→ 2025 年 1,200 万人次。
旅游业对 GDP 贡献率从 6.5% 跃升至 14%。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97680" y="2560320"/>
            <a:ext cx="3703320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D9C9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462272" y="2724912"/>
            <a:ext cx="502920" cy="411480"/>
          </a:xfrm>
          <a:prstGeom prst="rect">
            <a:avLst/>
          </a:prstGeom>
          <a:solidFill>
            <a:srgbClr val="1A16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62272" y="2724912"/>
            <a:ext cx="50292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FFCC00"/>
                </a:solidFill>
                <a:latin typeface="Cormorant Garamond"/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74920" y="2743200"/>
            <a:ext cx="2788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1612"/>
                </a:solidFill>
                <a:latin typeface="Microsoft YaHei"/>
              </a:rPr>
              <a:t>"留量"取代"流量"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60" y="3337560"/>
            <a:ext cx="333756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7A5A3A"/>
                </a:solidFill>
                <a:latin typeface="Microsoft YaHei"/>
              </a:rPr>
              <a:t>平潭官方提出"从流量到留量"的质效跃升 —— 过夜率破 50% 意味着市场对"深度产品"的需求正在打开。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138160" y="2560320"/>
            <a:ext cx="3703320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D9C9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302752" y="2724912"/>
            <a:ext cx="502920" cy="411480"/>
          </a:xfrm>
          <a:prstGeom prst="rect">
            <a:avLst/>
          </a:prstGeom>
          <a:solidFill>
            <a:srgbClr val="1A16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02752" y="2724912"/>
            <a:ext cx="50292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FFCC00"/>
                </a:solidFill>
                <a:latin typeface="Cormorant Garamond"/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15400" y="2743200"/>
            <a:ext cx="2788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1612"/>
                </a:solidFill>
                <a:latin typeface="Microsoft YaHei"/>
              </a:rPr>
              <a:t>AI + 文旅 · 如火如荼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21040" y="3337560"/>
            <a:ext cx="333756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7A5A3A"/>
                </a:solidFill>
                <a:latin typeface="Microsoft YaHei"/>
              </a:rPr>
              <a:t>大模型与多模态正在快速进入景区 —— 智慧文旅成为地方政府重点投入方向，AI 行程规划、AI 讲解、数字人正在多个目的地落地。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5532120"/>
            <a:ext cx="11247120" cy="777240"/>
          </a:xfrm>
          <a:prstGeom prst="rect">
            <a:avLst/>
          </a:prstGeom>
          <a:solidFill>
            <a:srgbClr val="1A16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520" y="562356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FFCC00"/>
                </a:solidFill>
                <a:latin typeface="Microsoft YaHei"/>
              </a:rPr>
              <a:t>旅游业对 GDP 贡献率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5897880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CC00"/>
                </a:solidFill>
                <a:latin typeface="Cormorant Garamond"/>
              </a:rPr>
              <a:t>6.5%  →  14%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0" y="5715000"/>
            <a:ext cx="36576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D9C9A8"/>
                </a:solidFill>
                <a:latin typeface="Microsoft YaHei"/>
              </a:rPr>
              <a:t>两年内贡献率翻倍以上 — 平潭已被定位为福建文旅旗舰核心引擎之一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28600" y="228600"/>
            <a:ext cx="11734495" cy="25400"/>
          </a:xfrm>
          <a:prstGeom prst="rect">
            <a:avLst/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28600" y="6604000"/>
            <a:ext cx="11734495" cy="25400"/>
          </a:xfrm>
          <a:prstGeom prst="rect">
            <a:avLst/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28600" y="228600"/>
            <a:ext cx="25400" cy="6400800"/>
          </a:xfrm>
          <a:prstGeom prst="rect">
            <a:avLst/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937695" y="228600"/>
            <a:ext cx="25400" cy="6400800"/>
          </a:xfrm>
          <a:prstGeom prst="rect">
            <a:avLst/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0" y="2194560"/>
            <a:ext cx="1219169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1">
                <a:solidFill>
                  <a:srgbClr val="C8552D"/>
                </a:solidFill>
                <a:latin typeface="Cormorant Garamond"/>
              </a:rPr>
              <a:t>CHAPTER · TWO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2743200"/>
            <a:ext cx="12191695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000" b="1" i="0">
                <a:solidFill>
                  <a:srgbClr val="1A1612"/>
                </a:solidFill>
                <a:latin typeface="Microsoft YaHei"/>
              </a:rPr>
              <a:t>产品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0" y="4297680"/>
            <a:ext cx="1219169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1">
                <a:solidFill>
                  <a:srgbClr val="7A5A3A"/>
                </a:solidFill>
                <a:latin typeface="Cormorant Garamond"/>
              </a:rPr>
              <a:t>The Product · 一份能买、能用、能传播的文旅商品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1">
                <a:solidFill>
                  <a:srgbClr val="7A5A3A"/>
                </a:solidFill>
                <a:latin typeface="Cormorant Garamond"/>
              </a:rPr>
              <a:t>FUDAN · 2026 · 68 NM TWO SIDES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0" y="644652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1">
                <a:solidFill>
                  <a:srgbClr val="7A5A3A"/>
                </a:solidFill>
                <a:latin typeface="Cormorant Garamond"/>
              </a:rPr>
              <a:t>06 / 24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C8552D"/>
                </a:solidFill>
                <a:latin typeface="Cormorant Garamond"/>
              </a:rPr>
              <a:t>CHAPTER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1">
                <a:solidFill>
                  <a:srgbClr val="7A5A3A"/>
                </a:solidFill>
                <a:latin typeface="Cormorant Garamond"/>
              </a:rPr>
              <a:t>Positioning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1">
                <a:solidFill>
                  <a:srgbClr val="7A5A3A"/>
                </a:solidFill>
                <a:latin typeface="Cormorant Garamond"/>
              </a:rPr>
              <a:t>产品定位 · 四个差异化能力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05840"/>
            <a:ext cx="1828800" cy="25400"/>
          </a:xfrm>
          <a:prstGeom prst="rect">
            <a:avLst/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1430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7A5A3A"/>
                </a:solidFill>
                <a:latin typeface="Microsoft YaHei"/>
              </a:rPr>
              <a:t>面向国内市场以"跨文化情绪解码"为核心的数字人文复合型文旅产品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1">
                <a:solidFill>
                  <a:srgbClr val="7A5A3A"/>
                </a:solidFill>
                <a:latin typeface="Cormorant Garamond"/>
              </a:rPr>
              <a:t>FUDAN · 2026 · 68 NM TWO SIDES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644652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1">
                <a:solidFill>
                  <a:srgbClr val="7A5A3A"/>
                </a:solidFill>
                <a:latin typeface="Cormorant Garamond"/>
              </a:rPr>
              <a:t>07 / 24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55448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A1612"/>
                </a:solidFill>
                <a:latin typeface="Microsoft YaHei"/>
              </a:rPr>
              <a:t>把这套方案做成了 四个差异化能力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560320"/>
            <a:ext cx="2697480" cy="1828800"/>
          </a:xfrm>
          <a:prstGeom prst="rect">
            <a:avLst/>
          </a:prstGeom>
          <a:solidFill>
            <a:srgbClr val="1A16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2788920"/>
            <a:ext cx="26974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200" b="1" i="0">
                <a:solidFill>
                  <a:srgbClr val="FFCC00"/>
                </a:solidFill>
                <a:latin typeface="Cormorant Garamond"/>
              </a:rPr>
              <a:t>U1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429000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Microsoft YaHei"/>
              </a:rPr>
              <a:t>地理坐标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840480"/>
            <a:ext cx="2331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D9C9A8"/>
                </a:solidFill>
                <a:latin typeface="Microsoft YaHei"/>
              </a:rPr>
              <a:t>68 海里 — 大陆与台湾相近的可量化坐标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91840" y="2560320"/>
            <a:ext cx="2697480" cy="1828800"/>
          </a:xfrm>
          <a:prstGeom prst="rect">
            <a:avLst/>
          </a:prstGeom>
          <a:solidFill>
            <a:srgbClr val="1A16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91840" y="2788920"/>
            <a:ext cx="26974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200" b="1" i="0">
                <a:solidFill>
                  <a:srgbClr val="FFCC00"/>
                </a:solidFill>
                <a:latin typeface="Cormorant Garamond"/>
              </a:rPr>
              <a:t>U2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74720" y="3429000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Microsoft YaHei"/>
              </a:rPr>
              <a:t>语言资源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74720" y="3840480"/>
            <a:ext cx="2331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D9C9A8"/>
                </a:solidFill>
                <a:latin typeface="Microsoft YaHei"/>
              </a:rPr>
              <a:t>把闽东语·福州语系作为产品母词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26480" y="2560320"/>
            <a:ext cx="2697480" cy="1828800"/>
          </a:xfrm>
          <a:prstGeom prst="rect">
            <a:avLst/>
          </a:prstGeom>
          <a:solidFill>
            <a:srgbClr val="1A16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26480" y="2788920"/>
            <a:ext cx="26974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200" b="1" i="0">
                <a:solidFill>
                  <a:srgbClr val="FFCC00"/>
                </a:solidFill>
                <a:latin typeface="Cormorant Garamond"/>
              </a:rPr>
              <a:t>U3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429000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Microsoft YaHei"/>
              </a:rPr>
              <a:t>建筑文化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3840480"/>
            <a:ext cx="2331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D9C9A8"/>
                </a:solidFill>
                <a:latin typeface="Microsoft YaHei"/>
              </a:rPr>
              <a:t>花岗岩石厝的"碎石压顶"生存美学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961120" y="2560320"/>
            <a:ext cx="2697480" cy="1828800"/>
          </a:xfrm>
          <a:prstGeom prst="rect">
            <a:avLst/>
          </a:prstGeom>
          <a:solidFill>
            <a:srgbClr val="1A16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961120" y="2788920"/>
            <a:ext cx="26974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200" b="1" i="0">
                <a:solidFill>
                  <a:srgbClr val="FFCC00"/>
                </a:solidFill>
                <a:latin typeface="Cormorant Garamond"/>
              </a:rPr>
              <a:t>U4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0" y="3429000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Microsoft YaHei"/>
              </a:rPr>
              <a:t>机制设计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0" y="3840480"/>
            <a:ext cx="2331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D9C9A8"/>
                </a:solidFill>
                <a:latin typeface="Microsoft YaHei"/>
              </a:rPr>
              <a:t>"蓝眼泪盲盒保险"具备申请商业模式专利潜力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466344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1612"/>
                </a:solidFill>
                <a:latin typeface="Microsoft YaHei"/>
              </a:rPr>
              <a:t>目标客群（双轮驱动）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5074920"/>
            <a:ext cx="5486400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D9C9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521208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C8552D"/>
                </a:solidFill>
                <a:latin typeface="Microsoft YaHei"/>
              </a:rPr>
              <a:t>C 端 · 高净值青年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5577840"/>
            <a:ext cx="52120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7A5A3A"/>
                </a:solidFill>
                <a:latin typeface="Microsoft YaHei"/>
              </a:rPr>
              <a:t>22—35 岁人文青年、外语/翻译/传播专业生、播客重度用户、数字游民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126480" y="5074920"/>
            <a:ext cx="5577840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D9C9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09360" y="521208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E5267"/>
                </a:solidFill>
                <a:latin typeface="Microsoft YaHei"/>
              </a:rPr>
              <a:t>B 端 · 机构客户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09360" y="5577840"/>
            <a:ext cx="52120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7A5A3A"/>
                </a:solidFill>
                <a:latin typeface="Microsoft YaHei"/>
              </a:rPr>
              <a:t>文旅局 / 媒体 / 学术研究 / 企业团建 / 跨境台青文化交流项目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C8552D"/>
                </a:solidFill>
                <a:latin typeface="Cormorant Garamond"/>
              </a:rPr>
              <a:t>CHAPTER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1">
                <a:solidFill>
                  <a:srgbClr val="7A5A3A"/>
                </a:solidFill>
                <a:latin typeface="Cormorant Garamond"/>
              </a:rPr>
              <a:t>SKU Matrix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1">
                <a:solidFill>
                  <a:srgbClr val="7A5A3A"/>
                </a:solidFill>
                <a:latin typeface="Cormorant Garamond"/>
              </a:rPr>
              <a:t>三档套餐 + PASS 卡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05840"/>
            <a:ext cx="1828800" cy="25400"/>
          </a:xfrm>
          <a:prstGeom prst="rect">
            <a:avLst/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1430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7A5A3A"/>
                </a:solidFill>
                <a:latin typeface="Microsoft YaHei"/>
              </a:rPr>
              <a:t>把抽象的"产品"落到 3 档可即时下单的 SKU + 4 类衍生品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1">
                <a:solidFill>
                  <a:srgbClr val="7A5A3A"/>
                </a:solidFill>
                <a:latin typeface="Cormorant Garamond"/>
              </a:rPr>
              <a:t>FUDAN · 2026 · 68 NM TWO SIDES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644652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1">
                <a:solidFill>
                  <a:srgbClr val="7A5A3A"/>
                </a:solidFill>
                <a:latin typeface="Cormorant Garamond"/>
              </a:rPr>
              <a:t>08 / 24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55448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A1612"/>
                </a:solidFill>
                <a:latin typeface="Microsoft YaHei"/>
              </a:rPr>
              <a:t>3 档套餐 + 「68 海里通行 PASS」 独立 SKU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194560"/>
            <a:ext cx="3703320" cy="4069080"/>
          </a:xfrm>
          <a:prstGeom prst="rect">
            <a:avLst/>
          </a:prstGeom>
          <a:solidFill>
            <a:srgbClr val="FFFFFF"/>
          </a:solidFill>
          <a:ln w="9525">
            <a:solidFill>
              <a:srgbClr val="D9C9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331720"/>
            <a:ext cx="3337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A1612"/>
                </a:solidFill>
                <a:latin typeface="Microsoft YaHei"/>
              </a:rPr>
              <a:t>A 档 · 听见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697480"/>
            <a:ext cx="33375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1A1612"/>
                </a:solidFill>
                <a:latin typeface="Microsoft YaHei"/>
              </a:rPr>
              <a:t>声音地图日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200400"/>
            <a:ext cx="33375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C8552D"/>
                </a:solidFill>
                <a:latin typeface="Cormorant Garamond"/>
              </a:rPr>
              <a:t>¥199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3703320"/>
            <a:ext cx="3337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7A5A3A"/>
                </a:solidFill>
                <a:latin typeface="Microsoft YaHei"/>
              </a:rPr>
              <a:t>/ 1 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069079"/>
            <a:ext cx="33375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7A5A3A"/>
                </a:solidFill>
                <a:latin typeface="Microsoft YaHei"/>
              </a:rPr>
              <a:t>福州 / 厦门周边短途客 · 学生党友好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4572000"/>
            <a:ext cx="3337560" cy="6350"/>
          </a:xfrm>
          <a:prstGeom prst="rect">
            <a:avLst/>
          </a:prstGeom>
          <a:solidFill>
            <a:srgbClr val="D9C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4709160"/>
            <a:ext cx="3337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1A1612"/>
                </a:solidFill>
                <a:latin typeface="Microsoft YaHei"/>
              </a:rPr>
              <a:t>› 漫游护照（实体）+ AI 导览小程序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001768"/>
            <a:ext cx="3337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1A1612"/>
                </a:solidFill>
                <a:latin typeface="Microsoft YaHei"/>
              </a:rPr>
              <a:t>› 北港村 3 家台青咖啡馆声音特调券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5294376"/>
            <a:ext cx="3337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1A1612"/>
                </a:solidFill>
                <a:latin typeface="Microsoft YaHei"/>
              </a:rPr>
              <a:t>› 石头会唱歌·夜间音乐会门票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586984"/>
            <a:ext cx="3337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1A1612"/>
                </a:solidFill>
                <a:latin typeface="Microsoft YaHei"/>
              </a:rPr>
              <a:t>› 1 张 AI 数字情绪明信片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79592"/>
            <a:ext cx="3337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1A1612"/>
                </a:solidFill>
                <a:latin typeface="Microsoft YaHei"/>
              </a:rPr>
              <a:t>› 蓝眼泪盲盒保险（自动）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97680" y="2194560"/>
            <a:ext cx="3703320" cy="4069080"/>
          </a:xfrm>
          <a:prstGeom prst="rect">
            <a:avLst/>
          </a:prstGeom>
          <a:solidFill>
            <a:srgbClr val="FFF8D8"/>
          </a:solidFill>
          <a:ln w="9525">
            <a:solidFill>
              <a:srgbClr val="C855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80560" y="2331720"/>
            <a:ext cx="3337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C8552D"/>
                </a:solidFill>
                <a:latin typeface="Microsoft YaHei"/>
              </a:rPr>
              <a:t>★ B 档 · 听懂（主推）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80560" y="2697480"/>
            <a:ext cx="33375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1A1612"/>
                </a:solidFill>
                <a:latin typeface="Microsoft YaHei"/>
              </a:rPr>
              <a:t>两面漫游 3 日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80560" y="3200400"/>
            <a:ext cx="33375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C8552D"/>
                </a:solidFill>
                <a:latin typeface="Cormorant Garamond"/>
              </a:rPr>
              <a:t>¥1,380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80560" y="3703320"/>
            <a:ext cx="3337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7A5A3A"/>
                </a:solidFill>
                <a:latin typeface="Microsoft YaHei"/>
              </a:rPr>
              <a:t>/ 3 日 2 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80560" y="4069079"/>
            <a:ext cx="33375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7A5A3A"/>
                </a:solidFill>
                <a:latin typeface="Microsoft YaHei"/>
              </a:rPr>
              <a:t>沪京榕人文青年 · 反走马观花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480560" y="4572000"/>
            <a:ext cx="3337560" cy="6350"/>
          </a:xfrm>
          <a:prstGeom prst="rect">
            <a:avLst/>
          </a:prstGeom>
          <a:solidFill>
            <a:srgbClr val="D9C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480560" y="4709160"/>
            <a:ext cx="3337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1A1612"/>
                </a:solidFill>
                <a:latin typeface="Microsoft YaHei"/>
              </a:rPr>
              <a:t>› A 档全部 + 北港村石厝精品民宿 2 晚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80560" y="5001768"/>
            <a:ext cx="3337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1A1612"/>
                </a:solidFill>
                <a:latin typeface="Microsoft YaHei"/>
              </a:rPr>
              <a:t>› 猴研岛 + 东海仙境 + 长江澳专属讲解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80560" y="5294376"/>
            <a:ext cx="3337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1A1612"/>
                </a:solidFill>
                <a:latin typeface="Microsoft YaHei"/>
              </a:rPr>
              <a:t>› AI 翻译手账（含 5 段田野录音）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80560" y="5586984"/>
            <a:ext cx="3337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1A1612"/>
                </a:solidFill>
                <a:latin typeface="Microsoft YaHei"/>
              </a:rPr>
              <a:t>› 海鲜大排档晚餐 + 渔港早市体验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138160" y="2194560"/>
            <a:ext cx="3703320" cy="4069080"/>
          </a:xfrm>
          <a:prstGeom prst="rect">
            <a:avLst/>
          </a:prstGeom>
          <a:solidFill>
            <a:srgbClr val="FFFFFF"/>
          </a:solidFill>
          <a:ln w="9525">
            <a:solidFill>
              <a:srgbClr val="D9C9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321040" y="2331720"/>
            <a:ext cx="3337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A1612"/>
                </a:solidFill>
                <a:latin typeface="Microsoft YaHei"/>
              </a:rPr>
              <a:t>C 档 · 听透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1040" y="2697480"/>
            <a:ext cx="33375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1A1612"/>
                </a:solidFill>
                <a:latin typeface="Microsoft YaHei"/>
              </a:rPr>
              <a:t>作者带团田野工作坊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21040" y="3200400"/>
            <a:ext cx="33375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C8552D"/>
                </a:solidFill>
                <a:latin typeface="Cormorant Garamond"/>
              </a:rPr>
              <a:t>¥3,680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21040" y="3703320"/>
            <a:ext cx="3337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7A5A3A"/>
                </a:solidFill>
                <a:latin typeface="Microsoft YaHei"/>
              </a:rPr>
              <a:t>/ 5 日 4 夜（限 12 人）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21040" y="4069079"/>
            <a:ext cx="33375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7A5A3A"/>
                </a:solidFill>
                <a:latin typeface="Microsoft YaHei"/>
              </a:rPr>
              <a:t>创作者 / 作家 / 播客主 · 翻译研学团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321040" y="4572000"/>
            <a:ext cx="3337560" cy="6350"/>
          </a:xfrm>
          <a:prstGeom prst="rect">
            <a:avLst/>
          </a:prstGeom>
          <a:solidFill>
            <a:srgbClr val="D9C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321040" y="4709160"/>
            <a:ext cx="3337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1A1612"/>
                </a:solidFill>
                <a:latin typeface="Microsoft YaHei"/>
              </a:rPr>
              <a:t>› B 档全部 + 180° 海景精品民宿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21040" y="5001768"/>
            <a:ext cx="3337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1A1612"/>
                </a:solidFill>
                <a:latin typeface="Microsoft YaHei"/>
              </a:rPr>
              <a:t>› 3 台青 + 2 老渔民深度访谈（60min × 5）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21040" y="5294376"/>
            <a:ext cx="3337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1A1612"/>
                </a:solidFill>
                <a:latin typeface="Microsoft YaHei"/>
              </a:rPr>
              <a:t>› 作者带领方言田野调查工作坊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21040" y="5586984"/>
            <a:ext cx="3337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1A1612"/>
                </a:solidFill>
                <a:latin typeface="Microsoft YaHei"/>
              </a:rPr>
              <a:t>› 个人播客 1 期录制 + 剪辑 + 发布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21040" y="5879592"/>
            <a:ext cx="3337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1A1612"/>
                </a:solidFill>
                <a:latin typeface="Microsoft YaHei"/>
              </a:rPr>
              <a:t>› 《我的 68 海里 田野手账》定制出版物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C8552D"/>
                </a:solidFill>
                <a:latin typeface="Cormorant Garamond"/>
              </a:rPr>
              <a:t>CHAPTER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1">
                <a:solidFill>
                  <a:srgbClr val="7A5A3A"/>
                </a:solidFill>
                <a:latin typeface="Cormorant Garamond"/>
              </a:rPr>
              <a:t>The Moat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1">
                <a:solidFill>
                  <a:srgbClr val="7A5A3A"/>
                </a:solidFill>
                <a:latin typeface="Cormorant Garamond"/>
              </a:rPr>
              <a:t>机制层差异化 · 蓝眼泪盲盒保险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05840"/>
            <a:ext cx="1828800" cy="25400"/>
          </a:xfrm>
          <a:prstGeom prst="rect">
            <a:avLst/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1430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7A5A3A"/>
                </a:solidFill>
                <a:latin typeface="Microsoft YaHei"/>
              </a:rPr>
              <a:t>同赛道具备申请商业模式专利潜力的机制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1">
                <a:solidFill>
                  <a:srgbClr val="7A5A3A"/>
                </a:solidFill>
                <a:latin typeface="Cormorant Garamond"/>
              </a:rPr>
              <a:t>FUDAN · 2026 · 68 NM TWO SIDES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644652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1">
                <a:solidFill>
                  <a:srgbClr val="7A5A3A"/>
                </a:solidFill>
                <a:latin typeface="Cormorant Garamond"/>
              </a:rPr>
              <a:t>09 / 24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55448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A1612"/>
                </a:solidFill>
                <a:latin typeface="Microsoft YaHei"/>
              </a:rPr>
              <a:t>「蓝眼泪盲盒保险」 — 把旅行遗憾自动转化为二次消费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560320"/>
            <a:ext cx="5486400" cy="3474720"/>
          </a:xfrm>
          <a:prstGeom prst="rect">
            <a:avLst/>
          </a:prstGeom>
          <a:solidFill>
            <a:srgbClr val="FFFFFF"/>
          </a:solidFill>
          <a:ln w="9525">
            <a:solidFill>
              <a:srgbClr val="D9C9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560320"/>
            <a:ext cx="164592" cy="3474720"/>
          </a:xfrm>
          <a:prstGeom prst="rect">
            <a:avLst/>
          </a:prstGeom>
          <a:solidFill>
            <a:srgbClr val="C855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269748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C8552D"/>
                </a:solidFill>
                <a:latin typeface="Microsoft YaHei"/>
              </a:rPr>
              <a:t>痛点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10896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A1612"/>
                </a:solidFill>
                <a:latin typeface="Microsoft YaHei"/>
              </a:rPr>
              <a:t>所有海岛游的常见痛点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611880"/>
            <a:ext cx="5029200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7A5A3A"/>
                </a:solidFill>
                <a:latin typeface="Microsoft YaHei"/>
              </a:rPr>
              <a:t>蓝眼泪不能预约 ——
看不见就退款，景区难；
看不见不退款，游客失望。
这是行业普遍存在的体验难题。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63640" y="2560320"/>
            <a:ext cx="5486400" cy="3474720"/>
          </a:xfrm>
          <a:prstGeom prst="rect">
            <a:avLst/>
          </a:prstGeom>
          <a:solidFill>
            <a:srgbClr val="FFF8D8"/>
          </a:solidFill>
          <a:ln w="9525">
            <a:solidFill>
              <a:srgbClr val="FFC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63640" y="2560320"/>
            <a:ext cx="164592" cy="3474720"/>
          </a:xfrm>
          <a:prstGeom prst="rect">
            <a:avLst/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0" y="269748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B08A3E"/>
                </a:solidFill>
                <a:latin typeface="Microsoft YaHei"/>
              </a:rPr>
              <a:t>破局机制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310896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A1612"/>
                </a:solidFill>
                <a:latin typeface="Microsoft YaHei"/>
              </a:rPr>
              <a:t>看不到？小程序 23:30 自动推送 ——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3611880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1A1612"/>
                </a:solidFill>
                <a:latin typeface="Microsoft YaHei"/>
              </a:rPr>
              <a:t>① 海鲜大排档 7 折券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3977640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1A1612"/>
                </a:solidFill>
                <a:latin typeface="Microsoft YaHei"/>
              </a:rPr>
              <a:t>② 限定文创盲盒（压仓石/黑胶任选）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0" y="4343400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1A1612"/>
                </a:solidFill>
                <a:latin typeface="Microsoft YaHei"/>
              </a:rPr>
              <a:t>③ 次日免费夜钓体验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0" y="4709160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1A1612"/>
                </a:solidFill>
                <a:latin typeface="Microsoft YaHei"/>
              </a:rPr>
              <a:t>④ AI 蓝眼泪情绪明信片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0" y="544068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1">
                <a:solidFill>
                  <a:srgbClr val="C8552D"/>
                </a:solidFill>
                <a:latin typeface="Microsoft YaHei"/>
              </a:rPr>
              <a:t>把遗憾转化为二次消费 · 复购转化率 +60%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C8552D"/>
                </a:solidFill>
                <a:latin typeface="Cormorant Garamond"/>
              </a:rPr>
              <a:t>CHAPTER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1">
                <a:solidFill>
                  <a:srgbClr val="7A5A3A"/>
                </a:solidFill>
                <a:latin typeface="Cormorant Garamond"/>
              </a:rPr>
              <a:t>68 NM PASS · One Card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1">
                <a:solidFill>
                  <a:srgbClr val="7A5A3A"/>
                </a:solidFill>
                <a:latin typeface="Cormorant Garamond"/>
              </a:rPr>
              <a:t>通行 PASS 卡 · 一卡通全城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05840"/>
            <a:ext cx="1828800" cy="25400"/>
          </a:xfrm>
          <a:prstGeom prst="rect">
            <a:avLst/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1430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7A5A3A"/>
                </a:solidFill>
                <a:latin typeface="Microsoft YaHei"/>
              </a:rPr>
              <a:t>解决传统旅游"分散付费、零碎优惠、无人对接" — 一张 ¥99 的全城联通卡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1">
                <a:solidFill>
                  <a:srgbClr val="7A5A3A"/>
                </a:solidFill>
                <a:latin typeface="Cormorant Garamond"/>
              </a:rPr>
              <a:t>FUDAN · 2026 · 68 NM TWO SIDES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644652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1">
                <a:solidFill>
                  <a:srgbClr val="7A5A3A"/>
                </a:solidFill>
                <a:latin typeface="Cormorant Garamond"/>
              </a:rPr>
              <a:t>10 / 24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554480"/>
            <a:ext cx="5029200" cy="4572000"/>
          </a:xfrm>
          <a:prstGeom prst="rect">
            <a:avLst/>
          </a:prstGeom>
          <a:solidFill>
            <a:srgbClr val="1A16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178308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1">
                <a:solidFill>
                  <a:srgbClr val="FFCC00"/>
                </a:solidFill>
                <a:latin typeface="Cormorant Garamond"/>
              </a:rPr>
              <a:t>68 NM PASS · ALL-IN-ONE TRAVEL CARD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468880"/>
            <a:ext cx="502920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0" b="1" i="0">
                <a:solidFill>
                  <a:srgbClr val="FFCC00"/>
                </a:solidFill>
                <a:latin typeface="Cormorant Garamond"/>
              </a:rPr>
              <a:t>¥99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43484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Microsoft YaHei"/>
              </a:rPr>
              <a:t>一张 · 6 大权益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493776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 i="1">
                <a:solidFill>
                  <a:srgbClr val="D9C9A8"/>
                </a:solidFill>
                <a:latin typeface="Microsoft YaHei"/>
              </a:rPr>
              <a:t>首年保守目标 18 万张 · ¥1,780 万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760720" y="1554480"/>
            <a:ext cx="292608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9C9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760720" y="1554480"/>
            <a:ext cx="25400" cy="1417320"/>
          </a:xfrm>
          <a:prstGeom prst="rect">
            <a:avLst/>
          </a:prstGeom>
          <a:solidFill>
            <a:srgbClr val="C855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97880" y="169164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C8552D"/>
                </a:solidFill>
                <a:latin typeface="Microsoft YaHei"/>
              </a:rPr>
              <a:t>1. 民宿优惠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97880" y="2103120"/>
            <a:ext cx="274320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7A5A3A"/>
                </a:solidFill>
                <a:latin typeface="Microsoft YaHei"/>
              </a:rPr>
              <a:t>合作 30+ 家平潭民宿 · 立减 8—15%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778240" y="1554480"/>
            <a:ext cx="292608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9C9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78240" y="1554480"/>
            <a:ext cx="25400" cy="1417320"/>
          </a:xfrm>
          <a:prstGeom prst="rect">
            <a:avLst/>
          </a:prstGeom>
          <a:solidFill>
            <a:srgbClr val="C855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15400" y="169164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C8552D"/>
                </a:solidFill>
                <a:latin typeface="Microsoft YaHei"/>
              </a:rPr>
              <a:t>2. 苍蝇小馆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15400" y="2103120"/>
            <a:ext cx="274320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7A5A3A"/>
                </a:solidFill>
                <a:latin typeface="Microsoft YaHei"/>
              </a:rPr>
              <a:t>北港村 / 澳前镇 50+ 本地餐馆 · 9 折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760720" y="3072384"/>
            <a:ext cx="292608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9C9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760720" y="3072384"/>
            <a:ext cx="25400" cy="1417320"/>
          </a:xfrm>
          <a:prstGeom prst="rect">
            <a:avLst/>
          </a:prstGeom>
          <a:solidFill>
            <a:srgbClr val="C855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897880" y="3209544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C8552D"/>
                </a:solidFill>
                <a:latin typeface="Microsoft YaHei"/>
              </a:rPr>
              <a:t>3. 公共出行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97880" y="3621024"/>
            <a:ext cx="274320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7A5A3A"/>
                </a:solidFill>
                <a:latin typeface="Microsoft YaHei"/>
              </a:rPr>
              <a:t>高铁站接驳 + 岛内公交 + 滴滴优惠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778240" y="3072384"/>
            <a:ext cx="292608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9C9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778240" y="3072384"/>
            <a:ext cx="25400" cy="1417320"/>
          </a:xfrm>
          <a:prstGeom prst="rect">
            <a:avLst/>
          </a:prstGeom>
          <a:solidFill>
            <a:srgbClr val="C855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915400" y="3209544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C8552D"/>
                </a:solidFill>
                <a:latin typeface="Microsoft YaHei"/>
              </a:rPr>
              <a:t>4. 景区门票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915400" y="3621024"/>
            <a:ext cx="274320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7A5A3A"/>
                </a:solidFill>
                <a:latin typeface="Microsoft YaHei"/>
              </a:rPr>
              <a:t>猴研岛 / 东海仙境 / 海坛古城打折通票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760720" y="4590288"/>
            <a:ext cx="292608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9C9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760720" y="4590288"/>
            <a:ext cx="25400" cy="1417320"/>
          </a:xfrm>
          <a:prstGeom prst="rect">
            <a:avLst/>
          </a:prstGeom>
          <a:solidFill>
            <a:srgbClr val="C855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897880" y="4727448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C8552D"/>
                </a:solidFill>
                <a:latin typeface="Microsoft YaHei"/>
              </a:rPr>
              <a:t>5. 租车租船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897880" y="5138928"/>
            <a:ext cx="274320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7A5A3A"/>
                </a:solidFill>
                <a:latin typeface="Microsoft YaHei"/>
              </a:rPr>
              <a:t>电动车日租 + 夜钓船优先排队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778240" y="4590288"/>
            <a:ext cx="292608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9C9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778240" y="4590288"/>
            <a:ext cx="25400" cy="1417320"/>
          </a:xfrm>
          <a:prstGeom prst="rect">
            <a:avLst/>
          </a:prstGeom>
          <a:solidFill>
            <a:srgbClr val="C855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915400" y="4727448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C8552D"/>
                </a:solidFill>
                <a:latin typeface="Microsoft YaHei"/>
              </a:rPr>
              <a:t>6. 限定礼物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915400" y="5138928"/>
            <a:ext cx="274320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7A5A3A"/>
                </a:solidFill>
                <a:latin typeface="Microsoft YaHei"/>
              </a:rPr>
              <a:t>文创小礼包 + 蓝眼泪明信片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C8552D"/>
                </a:solidFill>
                <a:latin typeface="Cormorant Garamond"/>
              </a:rPr>
              <a:t>CHAPTER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1">
                <a:solidFill>
                  <a:srgbClr val="7A5A3A"/>
                </a:solidFill>
                <a:latin typeface="Cormorant Garamond"/>
              </a:rPr>
              <a:t>AI Recommendation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1">
                <a:solidFill>
                  <a:srgbClr val="7A5A3A"/>
                </a:solidFill>
                <a:latin typeface="Cormorant Garamond"/>
              </a:rPr>
              <a:t>AI 推荐 · 不只卖套餐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05840"/>
            <a:ext cx="1828800" cy="25400"/>
          </a:xfrm>
          <a:prstGeom prst="rect">
            <a:avLst/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1430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7A5A3A"/>
                </a:solidFill>
                <a:latin typeface="Microsoft YaHei"/>
              </a:rPr>
              <a:t>不强迫游客只走套餐 — AI 基于偏好推附近民宿、苍蝇小馆、隐藏玩法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1">
                <a:solidFill>
                  <a:srgbClr val="7A5A3A"/>
                </a:solidFill>
                <a:latin typeface="Cormorant Garamond"/>
              </a:rPr>
              <a:t>FUDAN · 2026 · 68 NM TWO SIDES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644652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1">
                <a:solidFill>
                  <a:srgbClr val="7A5A3A"/>
                </a:solidFill>
                <a:latin typeface="Cormorant Garamond"/>
              </a:rPr>
              <a:t>11 / 24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55448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A1612"/>
                </a:solidFill>
                <a:latin typeface="Microsoft YaHei"/>
              </a:rPr>
              <a:t>除了套餐 · 还有一整张 本地化推荐网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468880"/>
            <a:ext cx="3703320" cy="3108960"/>
          </a:xfrm>
          <a:prstGeom prst="rect">
            <a:avLst/>
          </a:prstGeom>
          <a:solidFill>
            <a:srgbClr val="FFFFFF"/>
          </a:solidFill>
          <a:ln w="9525">
            <a:solidFill>
              <a:srgbClr val="D9C9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468880"/>
            <a:ext cx="3703320" cy="38100"/>
          </a:xfrm>
          <a:prstGeom prst="rect">
            <a:avLst/>
          </a:prstGeom>
          <a:solidFill>
            <a:srgbClr val="C855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2651760"/>
            <a:ext cx="3337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1">
                <a:solidFill>
                  <a:srgbClr val="C8552D"/>
                </a:solidFill>
                <a:latin typeface="Cormorant Garamond"/>
              </a:rPr>
              <a:t>REC · 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063240"/>
            <a:ext cx="33375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A1612"/>
                </a:solidFill>
                <a:latin typeface="Microsoft YaHei"/>
              </a:rPr>
              <a:t>本地民宿 AI 排序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3749040"/>
            <a:ext cx="333756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7A5A3A"/>
                </a:solidFill>
                <a:latin typeface="Microsoft YaHei"/>
              </a:rPr>
              <a:t>不是付费推荐 — 基于"方言深度 + 海景 + 厨房 + 价格区间"AI 排序。
北港村石厝民宿 / 澳前精品 / 海景公寓三类标签清晰可选。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97680" y="2468880"/>
            <a:ext cx="3703320" cy="3108960"/>
          </a:xfrm>
          <a:prstGeom prst="rect">
            <a:avLst/>
          </a:prstGeom>
          <a:solidFill>
            <a:srgbClr val="FFFFFF"/>
          </a:solidFill>
          <a:ln w="9525">
            <a:solidFill>
              <a:srgbClr val="D9C9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297680" y="2468880"/>
            <a:ext cx="3703320" cy="38100"/>
          </a:xfrm>
          <a:prstGeom prst="rect">
            <a:avLst/>
          </a:prstGeom>
          <a:solidFill>
            <a:srgbClr val="C855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80560" y="2651760"/>
            <a:ext cx="3337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1">
                <a:solidFill>
                  <a:srgbClr val="C8552D"/>
                </a:solidFill>
                <a:latin typeface="Cormorant Garamond"/>
              </a:rPr>
              <a:t>REC · 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60" y="3063240"/>
            <a:ext cx="33375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A1612"/>
                </a:solidFill>
                <a:latin typeface="Microsoft YaHei"/>
              </a:rPr>
              <a:t>苍蝇小馆地图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60" y="3749040"/>
            <a:ext cx="333756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7A5A3A"/>
                </a:solidFill>
                <a:latin typeface="Microsoft YaHei"/>
              </a:rPr>
              <a:t>本地老字号 50 家 — 金井湾海鲜 / 流水镇早茶 / 北港村台青馆。
按"翻台率 + 本地人评分"排序，避开纯网红打卡。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138160" y="2468880"/>
            <a:ext cx="3703320" cy="3108960"/>
          </a:xfrm>
          <a:prstGeom prst="rect">
            <a:avLst/>
          </a:prstGeom>
          <a:solidFill>
            <a:srgbClr val="FFFFFF"/>
          </a:solidFill>
          <a:ln w="9525">
            <a:solidFill>
              <a:srgbClr val="D9C9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38160" y="2468880"/>
            <a:ext cx="3703320" cy="38100"/>
          </a:xfrm>
          <a:prstGeom prst="rect">
            <a:avLst/>
          </a:prstGeom>
          <a:solidFill>
            <a:srgbClr val="C855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21040" y="2651760"/>
            <a:ext cx="3337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1">
                <a:solidFill>
                  <a:srgbClr val="C8552D"/>
                </a:solidFill>
                <a:latin typeface="Cormorant Garamond"/>
              </a:rPr>
              <a:t>REC · 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21040" y="3063240"/>
            <a:ext cx="33375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A1612"/>
                </a:solidFill>
                <a:latin typeface="Microsoft YaHei"/>
              </a:rPr>
              <a:t>隐藏玩法 · 数据驱动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21040" y="3749040"/>
            <a:ext cx="333756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7A5A3A"/>
                </a:solidFill>
                <a:latin typeface="Microsoft YaHei"/>
              </a:rPr>
              <a:t>夜钓 / 礁石长曝 / 凌晨渔港 / 老渔民对谈。
这些"非套餐"内容是真正吸引深度游客的"隐藏分"。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C8552D"/>
                </a:solidFill>
                <a:latin typeface="Cormorant Garamond"/>
              </a:rPr>
              <a:t>CHAPTER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1">
                <a:solidFill>
                  <a:srgbClr val="7A5A3A"/>
                </a:solidFill>
                <a:latin typeface="Cormorant Garamond"/>
              </a:rPr>
              <a:t>Blue Tears Live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1">
                <a:solidFill>
                  <a:srgbClr val="7A5A3A"/>
                </a:solidFill>
                <a:latin typeface="Cormorant Garamond"/>
              </a:rPr>
              <a:t>蓝眼泪实况 PRO · 四合一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05840"/>
            <a:ext cx="1828800" cy="25400"/>
          </a:xfrm>
          <a:prstGeom prst="rect">
            <a:avLst/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1430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7A5A3A"/>
                </a:solidFill>
                <a:latin typeface="Microsoft YaHei"/>
              </a:rPr>
              <a:t>市场已有官方蓝眼泪小程序（600 万+ 用户）— 我做的是它的专业版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1">
                <a:solidFill>
                  <a:srgbClr val="7A5A3A"/>
                </a:solidFill>
                <a:latin typeface="Cormorant Garamond"/>
              </a:rPr>
              <a:t>FUDAN · 2026 · 68 NM TWO SIDES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644652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1">
                <a:solidFill>
                  <a:srgbClr val="7A5A3A"/>
                </a:solidFill>
                <a:latin typeface="Cormorant Garamond"/>
              </a:rPr>
              <a:t>12 / 24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55448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A1612"/>
                </a:solidFill>
                <a:latin typeface="Microsoft YaHei"/>
              </a:rPr>
              <a:t>「蓝眼泪 · 实况 PRO」 — 预测 + 上报 + 直播 + 保险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468880"/>
            <a:ext cx="2697480" cy="3291840"/>
          </a:xfrm>
          <a:prstGeom prst="rect">
            <a:avLst/>
          </a:prstGeom>
          <a:solidFill>
            <a:srgbClr val="1A16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697480"/>
            <a:ext cx="23317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FFCC00"/>
                </a:solidFill>
                <a:latin typeface="Microsoft YaHei"/>
              </a:rPr>
              <a:t>① 预测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246120"/>
            <a:ext cx="23317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Microsoft YaHei"/>
              </a:rPr>
              <a:t>AI 概率模型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3840480"/>
            <a:ext cx="548640" cy="12700"/>
          </a:xfrm>
          <a:prstGeom prst="rect">
            <a:avLst/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4023360"/>
            <a:ext cx="233172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D9C9A8"/>
                </a:solidFill>
                <a:latin typeface="Microsoft YaHei"/>
              </a:rPr>
              <a:t>综合气象 / 潮汐 / 水温 / 风向，每 30 分钟更新当晚出现概率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91840" y="2468880"/>
            <a:ext cx="2697480" cy="3291840"/>
          </a:xfrm>
          <a:prstGeom prst="rect">
            <a:avLst/>
          </a:prstGeom>
          <a:solidFill>
            <a:srgbClr val="1A16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74720" y="2697480"/>
            <a:ext cx="23317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FFCC00"/>
                </a:solidFill>
                <a:latin typeface="Microsoft YaHei"/>
              </a:rPr>
              <a:t>② 上报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74720" y="3246120"/>
            <a:ext cx="23317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Microsoft YaHei"/>
              </a:rPr>
              <a:t>游客 UGC 实况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474720" y="3840480"/>
            <a:ext cx="548640" cy="12700"/>
          </a:xfrm>
          <a:prstGeom prst="rect">
            <a:avLst/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474720" y="4023360"/>
            <a:ext cx="233172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D9C9A8"/>
                </a:solidFill>
                <a:latin typeface="Microsoft YaHei"/>
              </a:rPr>
              <a:t>AI 自动校对位置、时间、可信度，热点亮起 — 形成全岛热力图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26480" y="2468880"/>
            <a:ext cx="2697480" cy="3291840"/>
          </a:xfrm>
          <a:prstGeom prst="rect">
            <a:avLst/>
          </a:prstGeom>
          <a:solidFill>
            <a:srgbClr val="1A16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2697480"/>
            <a:ext cx="23317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FFCC00"/>
                </a:solidFill>
                <a:latin typeface="Microsoft YaHei"/>
              </a:rPr>
              <a:t>③ 直播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3246120"/>
            <a:ext cx="23317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Microsoft YaHei"/>
              </a:rPr>
              <a:t>5 点夜间直播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309360" y="3840480"/>
            <a:ext cx="548640" cy="12700"/>
          </a:xfrm>
          <a:prstGeom prst="rect">
            <a:avLst/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4023360"/>
            <a:ext cx="233172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D9C9A8"/>
                </a:solidFill>
                <a:latin typeface="Microsoft YaHei"/>
              </a:rPr>
              <a:t>猴研岛 / 龙凤头 / 坛南湾 / 长江澳 / 北港村 24h 直播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961120" y="2468880"/>
            <a:ext cx="2697480" cy="3291840"/>
          </a:xfrm>
          <a:prstGeom prst="rect">
            <a:avLst/>
          </a:prstGeom>
          <a:solidFill>
            <a:srgbClr val="1A16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0" y="2697480"/>
            <a:ext cx="23317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FFCC00"/>
                </a:solidFill>
                <a:latin typeface="Microsoft YaHei"/>
              </a:rPr>
              <a:t>④ 保险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0" y="3246120"/>
            <a:ext cx="23317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Microsoft YaHei"/>
              </a:rPr>
              <a:t>盲盒补偿触发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144000" y="3840480"/>
            <a:ext cx="548640" cy="12700"/>
          </a:xfrm>
          <a:prstGeom prst="rect">
            <a:avLst/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44000" y="4023360"/>
            <a:ext cx="233172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D9C9A8"/>
                </a:solidFill>
                <a:latin typeface="Microsoft YaHei"/>
              </a:rPr>
              <a:t>&lt; 30% 自动派四选一补偿券 — 把遗憾转化为二次消费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28600" y="228600"/>
            <a:ext cx="11734495" cy="25400"/>
          </a:xfrm>
          <a:prstGeom prst="rect">
            <a:avLst/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28600" y="6604000"/>
            <a:ext cx="11734495" cy="25400"/>
          </a:xfrm>
          <a:prstGeom prst="rect">
            <a:avLst/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28600" y="228600"/>
            <a:ext cx="25400" cy="6400800"/>
          </a:xfrm>
          <a:prstGeom prst="rect">
            <a:avLst/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937695" y="228600"/>
            <a:ext cx="25400" cy="6400800"/>
          </a:xfrm>
          <a:prstGeom prst="rect">
            <a:avLst/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0" y="2194560"/>
            <a:ext cx="1219169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1">
                <a:solidFill>
                  <a:srgbClr val="C8552D"/>
                </a:solidFill>
                <a:latin typeface="Cormorant Garamond"/>
              </a:rPr>
              <a:t>CHAPTER · THREE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2743200"/>
            <a:ext cx="12191695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000" b="1" i="0">
                <a:solidFill>
                  <a:srgbClr val="1A1612"/>
                </a:solidFill>
                <a:latin typeface="Microsoft YaHei"/>
              </a:rPr>
              <a:t>技术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0" y="4297680"/>
            <a:ext cx="1219169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1">
                <a:solidFill>
                  <a:srgbClr val="7A5A3A"/>
                </a:solidFill>
                <a:latin typeface="Cormorant Garamond"/>
              </a:rPr>
              <a:t>YUTU·68 · 听懂 · 看懂 · 买懂 · 管懂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1">
                <a:solidFill>
                  <a:srgbClr val="7A5A3A"/>
                </a:solidFill>
                <a:latin typeface="Cormorant Garamond"/>
              </a:rPr>
              <a:t>FUDAN · 2026 · 68 NM TWO SIDES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0" y="644652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1">
                <a:solidFill>
                  <a:srgbClr val="7A5A3A"/>
                </a:solidFill>
                <a:latin typeface="Cormorant Garamond"/>
              </a:rPr>
              <a:t>13 / 24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C8552D"/>
                </a:solidFill>
                <a:latin typeface="Cormorant Garamond"/>
              </a:rPr>
              <a:t>CHAPTER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1">
                <a:solidFill>
                  <a:srgbClr val="7A5A3A"/>
                </a:solidFill>
                <a:latin typeface="Cormorant Garamond"/>
              </a:rPr>
              <a:t>AI Prototypes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1">
                <a:solidFill>
                  <a:srgbClr val="7A5A3A"/>
                </a:solidFill>
                <a:latin typeface="Cormorant Garamond"/>
              </a:rPr>
              <a:t>三个原型 · 听懂 → 看懂 → 买懂 → 管懂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05840"/>
            <a:ext cx="1828800" cy="25400"/>
          </a:xfrm>
          <a:prstGeom prst="rect">
            <a:avLst/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1430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7A5A3A"/>
                </a:solidFill>
                <a:latin typeface="Microsoft YaHei"/>
              </a:rPr>
              <a:t>我自研的「语途·68」AI 引擎 — 全部能在今天现场看见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1">
                <a:solidFill>
                  <a:srgbClr val="7A5A3A"/>
                </a:solidFill>
                <a:latin typeface="Cormorant Garamond"/>
              </a:rPr>
              <a:t>FUDAN · 2026 · 68 NM TWO SIDES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644652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1">
                <a:solidFill>
                  <a:srgbClr val="7A5A3A"/>
                </a:solidFill>
                <a:latin typeface="Cormorant Garamond"/>
              </a:rPr>
              <a:t>14 / 24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55448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A1612"/>
                </a:solidFill>
                <a:latin typeface="Microsoft YaHei"/>
              </a:rPr>
              <a:t>三个原型 · 听懂 → 看懂 → 买懂 → 管懂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286000"/>
            <a:ext cx="3703320" cy="3520440"/>
          </a:xfrm>
          <a:prstGeom prst="rect">
            <a:avLst/>
          </a:prstGeom>
          <a:solidFill>
            <a:srgbClr val="FFFFFF"/>
          </a:solidFill>
          <a:ln w="9525">
            <a:solidFill>
              <a:srgbClr val="D9C9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286000"/>
            <a:ext cx="3703320" cy="457200"/>
          </a:xfrm>
          <a:prstGeom prst="rect">
            <a:avLst/>
          </a:prstGeom>
          <a:solidFill>
            <a:srgbClr val="1A16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2331720"/>
            <a:ext cx="33375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1">
                <a:solidFill>
                  <a:srgbClr val="FFCC00"/>
                </a:solidFill>
                <a:latin typeface="Cormorant Garamond"/>
              </a:rPr>
              <a:t>AI · 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880360"/>
            <a:ext cx="33375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A1612"/>
                </a:solidFill>
                <a:latin typeface="Microsoft YaHei"/>
              </a:rPr>
              <a:t>方言情绪翻译器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3474720"/>
            <a:ext cx="333756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7A5A3A"/>
                </a:solidFill>
                <a:latin typeface="Microsoft YaHei"/>
              </a:rPr>
              <a:t>基于闽东语·福州语系真实语料 — 输入平潭话 → 输出情绪化意译 + 罗马拼音 + 普通话译文 + AI 情绪明信片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5166360"/>
            <a:ext cx="3337560" cy="6350"/>
          </a:xfrm>
          <a:prstGeom prst="rect">
            <a:avLst/>
          </a:prstGeom>
          <a:solidFill>
            <a:srgbClr val="D9C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5303520"/>
            <a:ext cx="33375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1">
                <a:solidFill>
                  <a:srgbClr val="C8552D"/>
                </a:solidFill>
                <a:latin typeface="Microsoft YaHei"/>
              </a:rPr>
              <a:t>▸ 解决"听不懂" · 触发 UGC 传播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97680" y="2286000"/>
            <a:ext cx="3703320" cy="3520440"/>
          </a:xfrm>
          <a:prstGeom prst="rect">
            <a:avLst/>
          </a:prstGeom>
          <a:solidFill>
            <a:srgbClr val="FFFFFF"/>
          </a:solidFill>
          <a:ln w="9525">
            <a:solidFill>
              <a:srgbClr val="D9C9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297680" y="2286000"/>
            <a:ext cx="3703320" cy="457200"/>
          </a:xfrm>
          <a:prstGeom prst="rect">
            <a:avLst/>
          </a:prstGeom>
          <a:solidFill>
            <a:srgbClr val="1A16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80560" y="2331720"/>
            <a:ext cx="33375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1">
                <a:solidFill>
                  <a:srgbClr val="FFCC00"/>
                </a:solidFill>
                <a:latin typeface="Cormorant Garamond"/>
              </a:rPr>
              <a:t>AI · 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0560" y="2880360"/>
            <a:ext cx="33375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A1612"/>
                </a:solidFill>
                <a:latin typeface="Microsoft YaHei"/>
              </a:rPr>
              <a:t>VLM 场景智能解读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80560" y="3474720"/>
            <a:ext cx="333756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7A5A3A"/>
                </a:solidFill>
                <a:latin typeface="Microsoft YaHei"/>
              </a:rPr>
              <a:t>扫描石厝 / 猴研岛 / 蓝眼泪 / 海蚀洞 — AR 叠加文化讲解 + 物理模拟 + 万年地质回放 + 一键购买文创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480560" y="5166360"/>
            <a:ext cx="3337560" cy="6350"/>
          </a:xfrm>
          <a:prstGeom prst="rect">
            <a:avLst/>
          </a:prstGeom>
          <a:solidFill>
            <a:srgbClr val="D9C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80560" y="5303520"/>
            <a:ext cx="33375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1">
                <a:solidFill>
                  <a:srgbClr val="C8552D"/>
                </a:solidFill>
                <a:latin typeface="Microsoft YaHei"/>
              </a:rPr>
              <a:t>▸ 解决"看不懂" · 把内容变商品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138160" y="2286000"/>
            <a:ext cx="3703320" cy="3520440"/>
          </a:xfrm>
          <a:prstGeom prst="rect">
            <a:avLst/>
          </a:prstGeom>
          <a:solidFill>
            <a:srgbClr val="FFFFFF"/>
          </a:solidFill>
          <a:ln w="9525">
            <a:solidFill>
              <a:srgbClr val="D9C9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138160" y="2286000"/>
            <a:ext cx="3703320" cy="457200"/>
          </a:xfrm>
          <a:prstGeom prst="rect">
            <a:avLst/>
          </a:prstGeom>
          <a:solidFill>
            <a:srgbClr val="1A16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21040" y="2331720"/>
            <a:ext cx="33375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1">
                <a:solidFill>
                  <a:srgbClr val="FFCC00"/>
                </a:solidFill>
                <a:latin typeface="Cormorant Garamond"/>
              </a:rPr>
              <a:t>AI · 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21040" y="2880360"/>
            <a:ext cx="33375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A1612"/>
                </a:solidFill>
                <a:latin typeface="Microsoft YaHei"/>
              </a:rPr>
              <a:t>运营画像分润大屏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1040" y="3474720"/>
            <a:ext cx="333756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7A5A3A"/>
                </a:solidFill>
                <a:latin typeface="Microsoft YaHei"/>
              </a:rPr>
              <a:t>实时聚合游客画像、动线热力、异业核销与自动分润 — 文旅局 / 商户 / 平台三方共用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321040" y="5166360"/>
            <a:ext cx="3337560" cy="6350"/>
          </a:xfrm>
          <a:prstGeom prst="rect">
            <a:avLst/>
          </a:prstGeom>
          <a:solidFill>
            <a:srgbClr val="D9C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21040" y="5303520"/>
            <a:ext cx="33375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1">
                <a:solidFill>
                  <a:srgbClr val="C8552D"/>
                </a:solidFill>
                <a:latin typeface="Microsoft YaHei"/>
              </a:rPr>
              <a:t>▸ 解决"管不懂" · B 端价值闭环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C8552D"/>
                </a:solidFill>
                <a:latin typeface="Cormorant Garamond"/>
              </a:rPr>
              <a:t>CHAPTER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1">
                <a:solidFill>
                  <a:srgbClr val="7A5A3A"/>
                </a:solidFill>
                <a:latin typeface="Cormorant Garamond"/>
              </a:rPr>
              <a:t>WeChat Mini-Program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1">
                <a:solidFill>
                  <a:srgbClr val="7A5A3A"/>
                </a:solidFill>
                <a:latin typeface="Cormorant Garamond"/>
              </a:rPr>
              <a:t>微信小程序 · 一个入口承载所有能力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05840"/>
            <a:ext cx="1828800" cy="25400"/>
          </a:xfrm>
          <a:prstGeom prst="rect">
            <a:avLst/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1430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7A5A3A"/>
                </a:solidFill>
                <a:latin typeface="Microsoft YaHei"/>
              </a:rPr>
              <a:t>已做成可上线的产品形态 — 5 大 Tab + 18+ 子功能 ·「来到平潭旅游，一个小程序就够了」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1">
                <a:solidFill>
                  <a:srgbClr val="7A5A3A"/>
                </a:solidFill>
                <a:latin typeface="Cormorant Garamond"/>
              </a:rPr>
              <a:t>FUDAN · 2026 · 68 NM TWO SIDES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644652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1">
                <a:solidFill>
                  <a:srgbClr val="7A5A3A"/>
                </a:solidFill>
                <a:latin typeface="Cormorant Garamond"/>
              </a:rPr>
              <a:t>15 / 24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55448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A1612"/>
                </a:solidFill>
                <a:latin typeface="Microsoft YaHei"/>
              </a:rPr>
              <a:t>「68 海里」微信小程序 · 一个入口承载所有能力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468880"/>
            <a:ext cx="2194560" cy="3017520"/>
          </a:xfrm>
          <a:prstGeom prst="rect">
            <a:avLst/>
          </a:prstGeom>
          <a:solidFill>
            <a:srgbClr val="FFFFFF"/>
          </a:solidFill>
          <a:ln w="9525">
            <a:solidFill>
              <a:srgbClr val="D9C9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468880"/>
            <a:ext cx="2194560" cy="914400"/>
          </a:xfrm>
          <a:prstGeom prst="rect">
            <a:avLst/>
          </a:prstGeom>
          <a:solidFill>
            <a:srgbClr val="C855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2514600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CC00"/>
                </a:solidFill>
                <a:latin typeface="Microsoft YaHei"/>
              </a:rPr>
              <a:t>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297180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CC00"/>
                </a:solidFill>
                <a:latin typeface="Microsoft YaHei"/>
              </a:rPr>
              <a:t>TAB 01 · 首页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3566160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1A1612"/>
                </a:solidFill>
                <a:latin typeface="Microsoft YaHei"/>
              </a:rPr>
              <a:t>智能聚合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4069080"/>
            <a:ext cx="1280160" cy="6350"/>
          </a:xfrm>
          <a:prstGeom prst="rect">
            <a:avLst/>
          </a:prstGeom>
          <a:solidFill>
            <a:srgbClr val="C855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4206240"/>
            <a:ext cx="192024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7A5A3A"/>
                </a:solidFill>
                <a:latin typeface="Microsoft YaHei"/>
              </a:rPr>
              <a:t>9 宫格快捷 · 今晚蓝泪概率 · AI 推荐 · 老店推荐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88920" y="2468880"/>
            <a:ext cx="2194560" cy="3017520"/>
          </a:xfrm>
          <a:prstGeom prst="rect">
            <a:avLst/>
          </a:prstGeom>
          <a:solidFill>
            <a:srgbClr val="FFFFFF"/>
          </a:solidFill>
          <a:ln w="9525">
            <a:solidFill>
              <a:srgbClr val="D9C9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788920" y="2468880"/>
            <a:ext cx="2194560" cy="914400"/>
          </a:xfrm>
          <a:prstGeom prst="rect">
            <a:avLst/>
          </a:prstGeom>
          <a:solidFill>
            <a:srgbClr val="1A16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88920" y="2514600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CC00"/>
                </a:solidFill>
                <a:latin typeface="Microsoft YaHei"/>
              </a:rPr>
              <a:t>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88920" y="297180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CC00"/>
                </a:solidFill>
                <a:latin typeface="Microsoft YaHei"/>
              </a:rPr>
              <a:t>TAB 02 · 地图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26080" y="3566160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1A1612"/>
                </a:solidFill>
                <a:latin typeface="Microsoft YaHei"/>
              </a:rPr>
              <a:t>蓝泪+导览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46120" y="4069080"/>
            <a:ext cx="1280160" cy="6350"/>
          </a:xfrm>
          <a:prstGeom prst="rect">
            <a:avLst/>
          </a:prstGeom>
          <a:solidFill>
            <a:srgbClr val="C855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926080" y="4206240"/>
            <a:ext cx="192024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7A5A3A"/>
                </a:solidFill>
                <a:latin typeface="Microsoft YaHei"/>
              </a:rPr>
              <a:t>5 大蓝泪点 · UGC 上报 · 直播 · 全岛 POI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120640" y="2468880"/>
            <a:ext cx="2194560" cy="3017520"/>
          </a:xfrm>
          <a:prstGeom prst="rect">
            <a:avLst/>
          </a:prstGeom>
          <a:solidFill>
            <a:srgbClr val="FFFFFF"/>
          </a:solidFill>
          <a:ln w="9525">
            <a:solidFill>
              <a:srgbClr val="D9C9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120640" y="2468880"/>
            <a:ext cx="2194560" cy="914400"/>
          </a:xfrm>
          <a:prstGeom prst="rect">
            <a:avLst/>
          </a:prstGeom>
          <a:solidFill>
            <a:srgbClr val="1A16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20640" y="2514600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CC00"/>
                </a:solidFill>
                <a:latin typeface="Microsoft YaHei"/>
              </a:rPr>
              <a:t>⊙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120640" y="297180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CC00"/>
                </a:solidFill>
                <a:latin typeface="Microsoft YaHei"/>
              </a:rPr>
              <a:t>TAB 03 · 翻译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57800" y="3566160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1A1612"/>
                </a:solidFill>
                <a:latin typeface="Microsoft YaHei"/>
              </a:rPr>
              <a:t>语途 68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577840" y="4069080"/>
            <a:ext cx="1280160" cy="6350"/>
          </a:xfrm>
          <a:prstGeom prst="rect">
            <a:avLst/>
          </a:prstGeom>
          <a:solidFill>
            <a:srgbClr val="C855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257800" y="4206240"/>
            <a:ext cx="192024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7A5A3A"/>
                </a:solidFill>
                <a:latin typeface="Microsoft YaHei"/>
              </a:rPr>
              <a:t>方言录音 / VLM 扫物 / 文字 / 田野录音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452360" y="2468880"/>
            <a:ext cx="2194560" cy="3017520"/>
          </a:xfrm>
          <a:prstGeom prst="rect">
            <a:avLst/>
          </a:prstGeom>
          <a:solidFill>
            <a:srgbClr val="FFFFFF"/>
          </a:solidFill>
          <a:ln w="9525">
            <a:solidFill>
              <a:srgbClr val="D9C9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452360" y="2468880"/>
            <a:ext cx="2194560" cy="914400"/>
          </a:xfrm>
          <a:prstGeom prst="rect">
            <a:avLst/>
          </a:prstGeom>
          <a:solidFill>
            <a:srgbClr val="1A16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452360" y="2514600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CC00"/>
                </a:solidFill>
                <a:latin typeface="Microsoft YaHei"/>
              </a:rPr>
              <a:t>¥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52360" y="297180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CC00"/>
                </a:solidFill>
                <a:latin typeface="Microsoft YaHei"/>
              </a:rPr>
              <a:t>TAB 04 · 商城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589520" y="3566160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1A1612"/>
                </a:solidFill>
                <a:latin typeface="Microsoft YaHei"/>
              </a:rPr>
              <a:t>一站下单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909560" y="4069080"/>
            <a:ext cx="1280160" cy="6350"/>
          </a:xfrm>
          <a:prstGeom prst="rect">
            <a:avLst/>
          </a:prstGeom>
          <a:solidFill>
            <a:srgbClr val="C855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589520" y="4206240"/>
            <a:ext cx="192024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7A5A3A"/>
                </a:solidFill>
                <a:latin typeface="Microsoft YaHei"/>
              </a:rPr>
              <a:t>套餐 · PASS · 文创 · 票务 · 包车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784080" y="2468880"/>
            <a:ext cx="2194560" cy="3017520"/>
          </a:xfrm>
          <a:prstGeom prst="rect">
            <a:avLst/>
          </a:prstGeom>
          <a:solidFill>
            <a:srgbClr val="FFFFFF"/>
          </a:solidFill>
          <a:ln w="9525">
            <a:solidFill>
              <a:srgbClr val="D9C9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784080" y="2468880"/>
            <a:ext cx="2194560" cy="914400"/>
          </a:xfrm>
          <a:prstGeom prst="rect">
            <a:avLst/>
          </a:prstGeom>
          <a:solidFill>
            <a:srgbClr val="1A16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784080" y="2514600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CC00"/>
                </a:solidFill>
                <a:latin typeface="Microsoft YaHei"/>
              </a:rPr>
              <a:t>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784080" y="297180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CC00"/>
                </a:solidFill>
                <a:latin typeface="Microsoft YaHei"/>
              </a:rPr>
              <a:t>TAB 05 · 我的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921240" y="3566160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1A1612"/>
                </a:solidFill>
                <a:latin typeface="Microsoft YaHei"/>
              </a:rPr>
              <a:t>漫游护照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0241280" y="4069080"/>
            <a:ext cx="1280160" cy="6350"/>
          </a:xfrm>
          <a:prstGeom prst="rect">
            <a:avLst/>
          </a:prstGeom>
          <a:solidFill>
            <a:srgbClr val="C855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921240" y="4206240"/>
            <a:ext cx="192024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7A5A3A"/>
                </a:solidFill>
                <a:latin typeface="Microsoft YaHei"/>
              </a:rPr>
              <a:t>订单 · PASS · 田野手账 · AI 客服 · SOS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57200" y="5669280"/>
            <a:ext cx="11247120" cy="640080"/>
          </a:xfrm>
          <a:prstGeom prst="rect">
            <a:avLst/>
          </a:prstGeom>
          <a:solidFill>
            <a:srgbClr val="FFF8D8"/>
          </a:solidFill>
          <a:ln w="9525">
            <a:solidFill>
              <a:srgbClr val="FFC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57200" y="576072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1">
                <a:solidFill>
                  <a:srgbClr val="1A1612"/>
                </a:solidFill>
                <a:latin typeface="Microsoft YaHei"/>
              </a:rPr>
              <a:t>深度对接平潭综合实验区智慧文旅大脑 · 离岛后 AI 自动生成 H5 田野手账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C8552D"/>
                </a:solidFill>
                <a:latin typeface="Cormorant Garamond"/>
              </a:rPr>
              <a:t>CHAPTER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1">
                <a:solidFill>
                  <a:srgbClr val="7A5A3A"/>
                </a:solidFill>
                <a:latin typeface="Cormorant Garamond"/>
              </a:rPr>
              <a:t>Cultural Merchandise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1">
                <a:solidFill>
                  <a:srgbClr val="7A5A3A"/>
                </a:solidFill>
                <a:latin typeface="Cormorant Garamond"/>
              </a:rPr>
              <a:t>文创衍生品矩阵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05840"/>
            <a:ext cx="1828800" cy="25400"/>
          </a:xfrm>
          <a:prstGeom prst="rect">
            <a:avLst/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1430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7A5A3A"/>
                </a:solidFill>
                <a:latin typeface="Microsoft YaHei"/>
              </a:rPr>
              <a:t>¥39 — ¥588 多档位文创 · 覆盖游客全消费场景 · 共享一套深海蓝+烫金视觉语言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1">
                <a:solidFill>
                  <a:srgbClr val="7A5A3A"/>
                </a:solidFill>
                <a:latin typeface="Cormorant Garamond"/>
              </a:rPr>
              <a:t>FUDAN · 2026 · 68 NM TWO SIDES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644652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1">
                <a:solidFill>
                  <a:srgbClr val="7A5A3A"/>
                </a:solidFill>
                <a:latin typeface="Cormorant Garamond"/>
              </a:rPr>
              <a:t>16 / 24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55448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A1612"/>
                </a:solidFill>
                <a:latin typeface="Microsoft YaHei"/>
              </a:rPr>
              <a:t>文创衍生品 矩阵 · 一套自有视觉的产品族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286000"/>
            <a:ext cx="2240280" cy="1463040"/>
          </a:xfrm>
          <a:prstGeom prst="rect">
            <a:avLst/>
          </a:prstGeom>
          <a:solidFill>
            <a:srgbClr val="FFFFFF"/>
          </a:solidFill>
          <a:ln w="9525">
            <a:solidFill>
              <a:srgbClr val="D9C9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286000"/>
            <a:ext cx="2240280" cy="25400"/>
          </a:xfrm>
          <a:prstGeom prst="rect">
            <a:avLst/>
          </a:prstGeom>
          <a:solidFill>
            <a:srgbClr val="B0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377440"/>
            <a:ext cx="19659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1">
                <a:solidFill>
                  <a:srgbClr val="B08A3E"/>
                </a:solidFill>
                <a:latin typeface="Cormorant Garamond"/>
              </a:rPr>
              <a:t>M·01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2743200"/>
            <a:ext cx="19659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1612"/>
                </a:solidFill>
                <a:latin typeface="Microsoft YaHei"/>
              </a:rPr>
              <a:t>漫游护照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3246120"/>
            <a:ext cx="19659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8552D"/>
                </a:solidFill>
                <a:latin typeface="Cormorant Garamond"/>
              </a:rPr>
              <a:t>¥168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88920" y="2286000"/>
            <a:ext cx="2240280" cy="1463040"/>
          </a:xfrm>
          <a:prstGeom prst="rect">
            <a:avLst/>
          </a:prstGeom>
          <a:solidFill>
            <a:srgbClr val="FFFFFF"/>
          </a:solidFill>
          <a:ln w="9525">
            <a:solidFill>
              <a:srgbClr val="D9C9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788920" y="2286000"/>
            <a:ext cx="2240280" cy="25400"/>
          </a:xfrm>
          <a:prstGeom prst="rect">
            <a:avLst/>
          </a:prstGeom>
          <a:solidFill>
            <a:srgbClr val="B0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926080" y="2377440"/>
            <a:ext cx="19659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1">
                <a:solidFill>
                  <a:srgbClr val="B08A3E"/>
                </a:solidFill>
                <a:latin typeface="Cormorant Garamond"/>
              </a:rPr>
              <a:t>M·02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26080" y="2743200"/>
            <a:ext cx="19659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1612"/>
                </a:solidFill>
                <a:latin typeface="Microsoft YaHei"/>
              </a:rPr>
              <a:t>通行 PASS 卡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26080" y="3246120"/>
            <a:ext cx="19659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8552D"/>
                </a:solidFill>
                <a:latin typeface="Cormorant Garamond"/>
              </a:rPr>
              <a:t>¥99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120640" y="2286000"/>
            <a:ext cx="2240280" cy="1463040"/>
          </a:xfrm>
          <a:prstGeom prst="rect">
            <a:avLst/>
          </a:prstGeom>
          <a:solidFill>
            <a:srgbClr val="FFFFFF"/>
          </a:solidFill>
          <a:ln w="9525">
            <a:solidFill>
              <a:srgbClr val="D9C9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120640" y="2286000"/>
            <a:ext cx="2240280" cy="25400"/>
          </a:xfrm>
          <a:prstGeom prst="rect">
            <a:avLst/>
          </a:prstGeom>
          <a:solidFill>
            <a:srgbClr val="B0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257800" y="2377440"/>
            <a:ext cx="19659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1">
                <a:solidFill>
                  <a:srgbClr val="B08A3E"/>
                </a:solidFill>
                <a:latin typeface="Cormorant Garamond"/>
              </a:rPr>
              <a:t>M·03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57800" y="2743200"/>
            <a:ext cx="19659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1612"/>
                </a:solidFill>
                <a:latin typeface="Microsoft YaHei"/>
              </a:rPr>
              <a:t>海风之声黑胶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57800" y="3246120"/>
            <a:ext cx="19659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8552D"/>
                </a:solidFill>
                <a:latin typeface="Cormorant Garamond"/>
              </a:rPr>
              <a:t>¥98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452360" y="2286000"/>
            <a:ext cx="2240280" cy="1463040"/>
          </a:xfrm>
          <a:prstGeom prst="rect">
            <a:avLst/>
          </a:prstGeom>
          <a:solidFill>
            <a:srgbClr val="FFFFFF"/>
          </a:solidFill>
          <a:ln w="9525">
            <a:solidFill>
              <a:srgbClr val="D9C9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452360" y="2286000"/>
            <a:ext cx="2240280" cy="25400"/>
          </a:xfrm>
          <a:prstGeom prst="rect">
            <a:avLst/>
          </a:prstGeom>
          <a:solidFill>
            <a:srgbClr val="B0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589520" y="2377440"/>
            <a:ext cx="19659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1">
                <a:solidFill>
                  <a:srgbClr val="B08A3E"/>
                </a:solidFill>
                <a:latin typeface="Cormorant Garamond"/>
              </a:rPr>
              <a:t>M·04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89520" y="2743200"/>
            <a:ext cx="19659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1612"/>
                </a:solidFill>
                <a:latin typeface="Microsoft YaHei"/>
              </a:rPr>
              <a:t>压仓石文镇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89520" y="3246120"/>
            <a:ext cx="19659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8552D"/>
                </a:solidFill>
                <a:latin typeface="Cormorant Garamond"/>
              </a:rPr>
              <a:t>¥58 — 168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784080" y="2286000"/>
            <a:ext cx="2240280" cy="1463040"/>
          </a:xfrm>
          <a:prstGeom prst="rect">
            <a:avLst/>
          </a:prstGeom>
          <a:solidFill>
            <a:srgbClr val="FFFFFF"/>
          </a:solidFill>
          <a:ln w="9525">
            <a:solidFill>
              <a:srgbClr val="D9C9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784080" y="2286000"/>
            <a:ext cx="2240280" cy="25400"/>
          </a:xfrm>
          <a:prstGeom prst="rect">
            <a:avLst/>
          </a:prstGeom>
          <a:solidFill>
            <a:srgbClr val="B0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921240" y="2377440"/>
            <a:ext cx="19659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1">
                <a:solidFill>
                  <a:srgbClr val="B08A3E"/>
                </a:solidFill>
                <a:latin typeface="Cormorant Garamond"/>
              </a:rPr>
              <a:t>M·05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921240" y="2743200"/>
            <a:ext cx="19659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1612"/>
                </a:solidFill>
                <a:latin typeface="Microsoft YaHei"/>
              </a:rPr>
              <a:t>AI 情绪明信片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921240" y="3246120"/>
            <a:ext cx="19659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8552D"/>
                </a:solidFill>
                <a:latin typeface="Cormorant Garamond"/>
              </a:rPr>
              <a:t>¥39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" y="3913632"/>
            <a:ext cx="2240280" cy="1463040"/>
          </a:xfrm>
          <a:prstGeom prst="rect">
            <a:avLst/>
          </a:prstGeom>
          <a:solidFill>
            <a:srgbClr val="FFFFFF"/>
          </a:solidFill>
          <a:ln w="9525">
            <a:solidFill>
              <a:srgbClr val="D9C9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57200" y="3913632"/>
            <a:ext cx="2240280" cy="25400"/>
          </a:xfrm>
          <a:prstGeom prst="rect">
            <a:avLst/>
          </a:prstGeom>
          <a:solidFill>
            <a:srgbClr val="B0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4360" y="4005072"/>
            <a:ext cx="19659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1">
                <a:solidFill>
                  <a:srgbClr val="B08A3E"/>
                </a:solidFill>
                <a:latin typeface="Cormorant Garamond"/>
              </a:rPr>
              <a:t>M·06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4360" y="4370832"/>
            <a:ext cx="19659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1612"/>
                </a:solidFill>
                <a:latin typeface="Microsoft YaHei"/>
              </a:rPr>
              <a:t>罗盘钥匙扣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94360" y="4873752"/>
            <a:ext cx="19659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8552D"/>
                </a:solidFill>
                <a:latin typeface="Cormorant Garamond"/>
              </a:rPr>
              <a:t>¥48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788920" y="3913632"/>
            <a:ext cx="2240280" cy="1463040"/>
          </a:xfrm>
          <a:prstGeom prst="rect">
            <a:avLst/>
          </a:prstGeom>
          <a:solidFill>
            <a:srgbClr val="FFFFFF"/>
          </a:solidFill>
          <a:ln w="9525">
            <a:solidFill>
              <a:srgbClr val="D9C9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788920" y="3913632"/>
            <a:ext cx="2240280" cy="25400"/>
          </a:xfrm>
          <a:prstGeom prst="rect">
            <a:avLst/>
          </a:prstGeom>
          <a:solidFill>
            <a:srgbClr val="B0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926080" y="4005072"/>
            <a:ext cx="19659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1">
                <a:solidFill>
                  <a:srgbClr val="B08A3E"/>
                </a:solidFill>
                <a:latin typeface="Cormorant Garamond"/>
              </a:rPr>
              <a:t>M·07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926080" y="4370832"/>
            <a:ext cx="19659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1612"/>
                </a:solidFill>
                <a:latin typeface="Microsoft YaHei"/>
              </a:rPr>
              <a:t>海风帆布袋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926080" y="4873752"/>
            <a:ext cx="19659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8552D"/>
                </a:solidFill>
                <a:latin typeface="Cormorant Garamond"/>
              </a:rPr>
              <a:t>¥68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120640" y="3913632"/>
            <a:ext cx="2240280" cy="1463040"/>
          </a:xfrm>
          <a:prstGeom prst="rect">
            <a:avLst/>
          </a:prstGeom>
          <a:solidFill>
            <a:srgbClr val="FFFFFF"/>
          </a:solidFill>
          <a:ln w="9525">
            <a:solidFill>
              <a:srgbClr val="D9C9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120640" y="3913632"/>
            <a:ext cx="2240280" cy="25400"/>
          </a:xfrm>
          <a:prstGeom prst="rect">
            <a:avLst/>
          </a:prstGeom>
          <a:solidFill>
            <a:srgbClr val="B0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257800" y="4005072"/>
            <a:ext cx="19659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1">
                <a:solidFill>
                  <a:srgbClr val="B08A3E"/>
                </a:solidFill>
                <a:latin typeface="Cormorant Garamond"/>
              </a:rPr>
              <a:t>M·08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257800" y="4370832"/>
            <a:ext cx="19659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1612"/>
                </a:solidFill>
                <a:latin typeface="Microsoft YaHei"/>
              </a:rPr>
              <a:t>手账胶带 3 卷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257800" y="4873752"/>
            <a:ext cx="19659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8552D"/>
                </a:solidFill>
                <a:latin typeface="Cormorant Garamond"/>
              </a:rPr>
              <a:t>¥58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452360" y="3913632"/>
            <a:ext cx="2240280" cy="1463040"/>
          </a:xfrm>
          <a:prstGeom prst="rect">
            <a:avLst/>
          </a:prstGeom>
          <a:solidFill>
            <a:srgbClr val="FFFFFF"/>
          </a:solidFill>
          <a:ln w="9525">
            <a:solidFill>
              <a:srgbClr val="D9C9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452360" y="3913632"/>
            <a:ext cx="2240280" cy="25400"/>
          </a:xfrm>
          <a:prstGeom prst="rect">
            <a:avLst/>
          </a:prstGeom>
          <a:solidFill>
            <a:srgbClr val="B0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589520" y="4005072"/>
            <a:ext cx="19659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1">
                <a:solidFill>
                  <a:srgbClr val="B08A3E"/>
                </a:solidFill>
                <a:latin typeface="Cormorant Garamond"/>
              </a:rPr>
              <a:t>M·09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589520" y="4370832"/>
            <a:ext cx="19659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1612"/>
                </a:solidFill>
                <a:latin typeface="Microsoft YaHei"/>
              </a:rPr>
              <a:t>田野手账本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589520" y="4873752"/>
            <a:ext cx="19659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8552D"/>
                </a:solidFill>
                <a:latin typeface="Cormorant Garamond"/>
              </a:rPr>
              <a:t>¥88</a:t>
            </a:r>
          </a:p>
        </p:txBody>
      </p:sp>
      <p:sp>
        <p:nvSpPr>
          <p:cNvPr id="56" name="Rectangle 55"/>
          <p:cNvSpPr/>
          <p:nvPr/>
        </p:nvSpPr>
        <p:spPr>
          <a:xfrm>
            <a:off x="9784080" y="3913632"/>
            <a:ext cx="2240280" cy="1463040"/>
          </a:xfrm>
          <a:prstGeom prst="rect">
            <a:avLst/>
          </a:prstGeom>
          <a:solidFill>
            <a:srgbClr val="FFFFFF"/>
          </a:solidFill>
          <a:ln w="9525">
            <a:solidFill>
              <a:srgbClr val="D9C9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9784080" y="3913632"/>
            <a:ext cx="2240280" cy="25400"/>
          </a:xfrm>
          <a:prstGeom prst="rect">
            <a:avLst/>
          </a:prstGeom>
          <a:solidFill>
            <a:srgbClr val="B0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921240" y="4005072"/>
            <a:ext cx="19659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1">
                <a:solidFill>
                  <a:srgbClr val="B08A3E"/>
                </a:solidFill>
                <a:latin typeface="Cormorant Garamond"/>
              </a:rPr>
              <a:t>M·10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921240" y="4370832"/>
            <a:ext cx="19659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1612"/>
                </a:solidFill>
                <a:latin typeface="Microsoft YaHei"/>
              </a:rPr>
              <a:t>联名礼盒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921240" y="4873752"/>
            <a:ext cx="19659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8552D"/>
                </a:solidFill>
                <a:latin typeface="Cormorant Garamond"/>
              </a:rPr>
              <a:t>¥588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C8552D"/>
                </a:solidFill>
                <a:latin typeface="Cormorant Garamond"/>
              </a:rPr>
              <a:t>CHAPTER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1">
                <a:solidFill>
                  <a:srgbClr val="7A5A3A"/>
                </a:solidFill>
                <a:latin typeface="Cormorant Garamond"/>
              </a:rPr>
              <a:t>Product Film · 30s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1">
                <a:solidFill>
                  <a:srgbClr val="7A5A3A"/>
                </a:solidFill>
                <a:latin typeface="Cormorant Garamond"/>
              </a:rPr>
              <a:t>产品展示视频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05840"/>
            <a:ext cx="1828800" cy="25400"/>
          </a:xfrm>
          <a:prstGeom prst="rect">
            <a:avLst/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1430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7A5A3A"/>
                </a:solidFill>
                <a:latin typeface="Microsoft YaHei"/>
              </a:rPr>
              <a:t>为评委准备的 30 秒产品视频 — 它会回答：「这套产品长什么样？」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1">
                <a:solidFill>
                  <a:srgbClr val="7A5A3A"/>
                </a:solidFill>
                <a:latin typeface="Cormorant Garamond"/>
              </a:rPr>
              <a:t>FUDAN · 2026 · 68 NM TWO SIDES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644652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1">
                <a:solidFill>
                  <a:srgbClr val="7A5A3A"/>
                </a:solidFill>
                <a:latin typeface="Cormorant Garamond"/>
              </a:rPr>
              <a:t>17 / 24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55448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A1612"/>
                </a:solidFill>
                <a:latin typeface="Microsoft YaHei"/>
              </a:rPr>
              <a:t>《68 海里 · 两面》 — 30 秒产品片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19456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 i="1">
                <a:solidFill>
                  <a:srgbClr val="7A5A3A"/>
                </a:solidFill>
                <a:latin typeface="Microsoft YaHei"/>
              </a:rPr>
              <a:t>3 幕 · 30 秒 · 一个产品的完整自白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926080"/>
            <a:ext cx="11247120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D9C9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2926080"/>
            <a:ext cx="38100" cy="960120"/>
          </a:xfrm>
          <a:prstGeom prst="rect">
            <a:avLst/>
          </a:prstGeom>
          <a:solidFill>
            <a:srgbClr val="C855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3044952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1">
                <a:solidFill>
                  <a:srgbClr val="C8552D"/>
                </a:solidFill>
                <a:latin typeface="Cormorant Garamond"/>
              </a:rPr>
              <a:t>幕一 · 0—10s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17520" y="3044952"/>
            <a:ext cx="3931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A1612"/>
                </a:solidFill>
                <a:latin typeface="Microsoft YaHei"/>
              </a:rPr>
              <a:t>海风 + 渔民方言 + 字幕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429000"/>
            <a:ext cx="106070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7A5A3A"/>
                </a:solidFill>
                <a:latin typeface="Microsoft YaHei"/>
              </a:rPr>
              <a:t>"在 68 海里之外，有一种声音你从没听懂。"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023360"/>
            <a:ext cx="11247120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D9C9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4023360"/>
            <a:ext cx="38100" cy="960120"/>
          </a:xfrm>
          <a:prstGeom prst="rect">
            <a:avLst/>
          </a:prstGeom>
          <a:solidFill>
            <a:srgbClr val="C855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4142232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1">
                <a:solidFill>
                  <a:srgbClr val="C8552D"/>
                </a:solidFill>
                <a:latin typeface="Cormorant Garamond"/>
              </a:rPr>
              <a:t>幕二 · 10—20s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17520" y="4142232"/>
            <a:ext cx="3931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A1612"/>
                </a:solidFill>
                <a:latin typeface="Microsoft YaHei"/>
              </a:rPr>
              <a:t>小程序 / 翻译器 / VLM 扫描 / 漫游护照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4526280"/>
            <a:ext cx="106070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7A5A3A"/>
                </a:solidFill>
                <a:latin typeface="Microsoft YaHei"/>
              </a:rPr>
              <a:t>实拍快剪，节奏点切镜 — 让评委看到产品真实形态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5120640"/>
            <a:ext cx="11247120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D9C9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5120640"/>
            <a:ext cx="38100" cy="960120"/>
          </a:xfrm>
          <a:prstGeom prst="rect">
            <a:avLst/>
          </a:prstGeom>
          <a:solidFill>
            <a:srgbClr val="C855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5239512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1">
                <a:solidFill>
                  <a:srgbClr val="C8552D"/>
                </a:solidFill>
                <a:latin typeface="Cormorant Garamond"/>
              </a:rPr>
              <a:t>幕三 · 20—30s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017520" y="5239512"/>
            <a:ext cx="3931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A1612"/>
                </a:solidFill>
                <a:latin typeface="Microsoft YaHei"/>
              </a:rPr>
              <a:t>石厝 + 蓝眼泪 + 猴研岛长镜头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5623560"/>
            <a:ext cx="106070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7A5A3A"/>
                </a:solidFill>
                <a:latin typeface="Microsoft YaHei"/>
              </a:rPr>
              <a:t>收尾字幕："我们用 AI 与人文，重新翻译这 68 海里的距离。"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62636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1">
                <a:solidFill>
                  <a:srgbClr val="0E5267"/>
                </a:solidFill>
                <a:latin typeface="Microsoft YaHei"/>
              </a:rPr>
              <a:t>▶ 现已收录于资料包 video.html · 可全屏播放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28600" y="228600"/>
            <a:ext cx="11734495" cy="25400"/>
          </a:xfrm>
          <a:prstGeom prst="rect">
            <a:avLst/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28600" y="6604000"/>
            <a:ext cx="11734495" cy="25400"/>
          </a:xfrm>
          <a:prstGeom prst="rect">
            <a:avLst/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28600" y="228600"/>
            <a:ext cx="25400" cy="6400800"/>
          </a:xfrm>
          <a:prstGeom prst="rect">
            <a:avLst/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937695" y="228600"/>
            <a:ext cx="25400" cy="6400800"/>
          </a:xfrm>
          <a:prstGeom prst="rect">
            <a:avLst/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0" y="2194560"/>
            <a:ext cx="1219169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1">
                <a:solidFill>
                  <a:srgbClr val="C8552D"/>
                </a:solidFill>
                <a:latin typeface="Cormorant Garamond"/>
              </a:rPr>
              <a:t>CHAPTER · FOUR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2743200"/>
            <a:ext cx="12191695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000" b="1" i="0">
                <a:solidFill>
                  <a:srgbClr val="1A1612"/>
                </a:solidFill>
                <a:latin typeface="Microsoft YaHei"/>
              </a:rPr>
              <a:t>运营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0" y="4297680"/>
            <a:ext cx="1219169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1">
                <a:solidFill>
                  <a:srgbClr val="7A5A3A"/>
                </a:solidFill>
                <a:latin typeface="Cormorant Garamond"/>
              </a:rPr>
              <a:t>Operation · 协同 · 盈利 · 风险预案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1">
                <a:solidFill>
                  <a:srgbClr val="7A5A3A"/>
                </a:solidFill>
                <a:latin typeface="Cormorant Garamond"/>
              </a:rPr>
              <a:t>FUDAN · 2026 · 68 NM TWO SIDES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0" y="644652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1">
                <a:solidFill>
                  <a:srgbClr val="7A5A3A"/>
                </a:solidFill>
                <a:latin typeface="Cormorant Garamond"/>
              </a:rPr>
              <a:t>18 / 24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C8552D"/>
                </a:solidFill>
                <a:latin typeface="Cormorant Garamond"/>
              </a:rPr>
              <a:t>CHAPTER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1">
                <a:solidFill>
                  <a:srgbClr val="7A5A3A"/>
                </a:solidFill>
                <a:latin typeface="Cormorant Garamond"/>
              </a:rPr>
              <a:t>Regional Synergy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1">
                <a:solidFill>
                  <a:srgbClr val="7A5A3A"/>
                </a:solidFill>
                <a:latin typeface="Cormorant Garamond"/>
              </a:rPr>
              <a:t>海西经济圈联动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05840"/>
            <a:ext cx="1828800" cy="25400"/>
          </a:xfrm>
          <a:prstGeom prst="rect">
            <a:avLst/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1430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7A5A3A"/>
                </a:solidFill>
                <a:latin typeface="Microsoft YaHei"/>
              </a:rPr>
              <a:t>上海→平潭直达班次有限 — 我把这个不便转化成区域协同的机会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1">
                <a:solidFill>
                  <a:srgbClr val="7A5A3A"/>
                </a:solidFill>
                <a:latin typeface="Cormorant Garamond"/>
              </a:rPr>
              <a:t>FUDAN · 2026 · 68 NM TWO SIDES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644652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1">
                <a:solidFill>
                  <a:srgbClr val="7A5A3A"/>
                </a:solidFill>
                <a:latin typeface="Cormorant Garamond"/>
              </a:rPr>
              <a:t>19 / 24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55448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A1612"/>
                </a:solidFill>
                <a:latin typeface="Microsoft YaHei"/>
              </a:rPr>
              <a:t>「68 海里 PLUS」 — 带动福州 · 泉州 · 厦门共同发展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468880"/>
            <a:ext cx="2194560" cy="2377440"/>
          </a:xfrm>
          <a:prstGeom prst="rect">
            <a:avLst/>
          </a:prstGeom>
          <a:solidFill>
            <a:srgbClr val="FFFFFF"/>
          </a:solidFill>
          <a:ln w="9525">
            <a:solidFill>
              <a:srgbClr val="D9C9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468880"/>
            <a:ext cx="2194560" cy="502920"/>
          </a:xfrm>
          <a:prstGeom prst="rect">
            <a:avLst/>
          </a:prstGeom>
          <a:solidFill>
            <a:srgbClr val="7A5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256032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ormorant Garamond"/>
              </a:rPr>
              <a:t>DAY 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3154680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1A1612"/>
                </a:solidFill>
                <a:latin typeface="Microsoft YaHei"/>
              </a:rPr>
              <a:t>上海虹桥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3703320"/>
            <a:ext cx="192024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7A5A3A"/>
                </a:solidFill>
                <a:latin typeface="Microsoft YaHei"/>
              </a:rPr>
              <a:t>G 字头列车 · 下午发车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88920" y="2468880"/>
            <a:ext cx="2194560" cy="2377440"/>
          </a:xfrm>
          <a:prstGeom prst="rect">
            <a:avLst/>
          </a:prstGeom>
          <a:solidFill>
            <a:srgbClr val="FFFFFF"/>
          </a:solidFill>
          <a:ln w="9525">
            <a:solidFill>
              <a:srgbClr val="D9C9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788920" y="2468880"/>
            <a:ext cx="2194560" cy="502920"/>
          </a:xfrm>
          <a:prstGeom prst="rect">
            <a:avLst/>
          </a:prstGeom>
          <a:solidFill>
            <a:srgbClr val="B0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788920" y="256032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ormorant Garamond"/>
              </a:rPr>
              <a:t>DAY 0 PM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26080" y="3154680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1A1612"/>
                </a:solidFill>
                <a:latin typeface="Microsoft YaHei"/>
              </a:rPr>
              <a:t>福州站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26080" y="3703320"/>
            <a:ext cx="192024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7A5A3A"/>
                </a:solidFill>
                <a:latin typeface="Microsoft YaHei"/>
              </a:rPr>
              <a:t>三坊七巷夜游 · 福州话田野第 1 站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120640" y="2468880"/>
            <a:ext cx="2194560" cy="2377440"/>
          </a:xfrm>
          <a:prstGeom prst="rect">
            <a:avLst/>
          </a:prstGeom>
          <a:solidFill>
            <a:srgbClr val="FFFFFF"/>
          </a:solidFill>
          <a:ln w="9525">
            <a:solidFill>
              <a:srgbClr val="D9C9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120640" y="2468880"/>
            <a:ext cx="2194560" cy="502920"/>
          </a:xfrm>
          <a:prstGeom prst="rect">
            <a:avLst/>
          </a:prstGeom>
          <a:solidFill>
            <a:srgbClr val="C855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20640" y="256032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ormorant Garamond"/>
              </a:rPr>
              <a:t>DAY 1—3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57800" y="3154680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1A1612"/>
                </a:solidFill>
                <a:latin typeface="Microsoft YaHei"/>
              </a:rPr>
              <a:t>平潭岛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57800" y="3703320"/>
            <a:ext cx="192024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7A5A3A"/>
                </a:solidFill>
                <a:latin typeface="Microsoft YaHei"/>
              </a:rPr>
              <a:t>主体三日深度游 · 核心 SKU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452360" y="2468880"/>
            <a:ext cx="2194560" cy="2377440"/>
          </a:xfrm>
          <a:prstGeom prst="rect">
            <a:avLst/>
          </a:prstGeom>
          <a:solidFill>
            <a:srgbClr val="FFFFFF"/>
          </a:solidFill>
          <a:ln w="9525">
            <a:solidFill>
              <a:srgbClr val="D9C9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452360" y="2468880"/>
            <a:ext cx="2194560" cy="502920"/>
          </a:xfrm>
          <a:prstGeom prst="rect">
            <a:avLst/>
          </a:prstGeom>
          <a:solidFill>
            <a:srgbClr val="0E52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52360" y="256032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ormorant Garamond"/>
              </a:rPr>
              <a:t>DAY 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89520" y="3154680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1A1612"/>
                </a:solidFill>
                <a:latin typeface="Microsoft YaHei"/>
              </a:rPr>
              <a:t>泉州（可选）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89520" y="3703320"/>
            <a:ext cx="192024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7A5A3A"/>
                </a:solidFill>
                <a:latin typeface="Microsoft YaHei"/>
              </a:rPr>
              <a:t>闽南语对照体验 · 蟳埔簪花 · 海丝起点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784080" y="2468880"/>
            <a:ext cx="2194560" cy="2377440"/>
          </a:xfrm>
          <a:prstGeom prst="rect">
            <a:avLst/>
          </a:prstGeom>
          <a:solidFill>
            <a:srgbClr val="FFFFFF"/>
          </a:solidFill>
          <a:ln w="9525">
            <a:solidFill>
              <a:srgbClr val="D9C9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784080" y="2468880"/>
            <a:ext cx="2194560" cy="502920"/>
          </a:xfrm>
          <a:prstGeom prst="rect">
            <a:avLst/>
          </a:prstGeom>
          <a:solidFill>
            <a:srgbClr val="1A16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784080" y="256032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ormorant Garamond"/>
              </a:rPr>
              <a:t>DAY 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921240" y="3154680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1A1612"/>
                </a:solidFill>
                <a:latin typeface="Microsoft YaHei"/>
              </a:rPr>
              <a:t>厦门（可选）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921240" y="3703320"/>
            <a:ext cx="192024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7A5A3A"/>
                </a:solidFill>
                <a:latin typeface="Microsoft YaHei"/>
              </a:rPr>
              <a:t>鼓浪屿对岸眺望 · 返程虹桥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521208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1612"/>
                </a:solidFill>
                <a:latin typeface="Microsoft YaHei"/>
              </a:rPr>
              <a:t>为什么这套联动让我的产品具有不可替代性？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5669280"/>
            <a:ext cx="109728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7A5A3A"/>
                </a:solidFill>
                <a:latin typeface="Microsoft YaHei"/>
              </a:rPr>
              <a:t>① 海西经济圈协同 · 方言连续体闭环：闽东语 → 闽南语 → 客家话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" y="5961888"/>
            <a:ext cx="109728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7A5A3A"/>
                </a:solidFill>
                <a:latin typeface="Microsoft YaHei"/>
              </a:rPr>
              <a:t>② 对接"两岸融合发展示范区"国家战略 · 政府采购级文化外宣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6254496"/>
            <a:ext cx="109728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7A5A3A"/>
                </a:solidFill>
                <a:latin typeface="Microsoft YaHei"/>
              </a:rPr>
              <a:t>③ 把"平潭一日游"延伸为"福建文化走廊 5 日游"，客单价提升 3 倍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C8552D"/>
                </a:solidFill>
                <a:latin typeface="Cormorant Garamond"/>
              </a:rPr>
              <a:t>CHAPTER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1">
                <a:solidFill>
                  <a:srgbClr val="7A5A3A"/>
                </a:solidFill>
                <a:latin typeface="Cormorant Garamond"/>
              </a:rPr>
              <a:t>Revenue &amp; Value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1">
                <a:solidFill>
                  <a:srgbClr val="7A5A3A"/>
                </a:solidFill>
                <a:latin typeface="Cormorant Garamond"/>
              </a:rPr>
              <a:t>盈利与社会价值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05840"/>
            <a:ext cx="1828800" cy="25400"/>
          </a:xfrm>
          <a:prstGeom prst="rect">
            <a:avLst/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1430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7A5A3A"/>
                </a:solidFill>
                <a:latin typeface="Microsoft YaHei"/>
              </a:rPr>
              <a:t>基于平潭 2025 年 1,200 万年客流真实基数 · 0.5% 精准抓取测算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1">
                <a:solidFill>
                  <a:srgbClr val="7A5A3A"/>
                </a:solidFill>
                <a:latin typeface="Cormorant Garamond"/>
              </a:rPr>
              <a:t>FUDAN · 2026 · 68 NM TWO SIDES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644652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1">
                <a:solidFill>
                  <a:srgbClr val="7A5A3A"/>
                </a:solidFill>
                <a:latin typeface="Cormorant Garamond"/>
              </a:rPr>
              <a:t>20 / 24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55448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A1612"/>
                </a:solidFill>
                <a:latin typeface="Microsoft YaHei"/>
              </a:rPr>
              <a:t>首年保守 ≈ ¥9,200 万 · 第二年乐观可达 ¥1.5 亿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6040"/>
            <a:ext cx="2697480" cy="2011680"/>
          </a:xfrm>
          <a:prstGeom prst="rect">
            <a:avLst/>
          </a:prstGeom>
          <a:solidFill>
            <a:srgbClr val="1A16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834640"/>
            <a:ext cx="2331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CC00"/>
                </a:solidFill>
                <a:latin typeface="Cormorant Garamond"/>
              </a:rPr>
              <a:t>¥4,500 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566160"/>
            <a:ext cx="23317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Microsoft YaHei"/>
              </a:rPr>
              <a:t>套餐收入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023360"/>
            <a:ext cx="23317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1">
                <a:solidFill>
                  <a:srgbClr val="D9C9A8"/>
                </a:solidFill>
                <a:latin typeface="Microsoft YaHei"/>
              </a:rPr>
              <a:t>A/B/C 三档 + 海西联动 PLUS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91840" y="2606040"/>
            <a:ext cx="2697480" cy="2011680"/>
          </a:xfrm>
          <a:prstGeom prst="rect">
            <a:avLst/>
          </a:prstGeom>
          <a:solidFill>
            <a:srgbClr val="1A16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74720" y="2834640"/>
            <a:ext cx="2331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CC00"/>
                </a:solidFill>
                <a:latin typeface="Cormorant Garamond"/>
              </a:rPr>
              <a:t>¥2,000 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74720" y="3566160"/>
            <a:ext cx="23317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Microsoft YaHei"/>
              </a:rPr>
              <a:t>PASS 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74720" y="4023360"/>
            <a:ext cx="23317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1">
                <a:solidFill>
                  <a:srgbClr val="D9C9A8"/>
                </a:solidFill>
                <a:latin typeface="Microsoft YaHei"/>
              </a:rPr>
              <a:t>18 万张 × ¥99 + 商户分润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26480" y="2606040"/>
            <a:ext cx="2697480" cy="2011680"/>
          </a:xfrm>
          <a:prstGeom prst="rect">
            <a:avLst/>
          </a:prstGeom>
          <a:solidFill>
            <a:srgbClr val="1A16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2834640"/>
            <a:ext cx="2331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CC00"/>
                </a:solidFill>
                <a:latin typeface="Cormorant Garamond"/>
              </a:rPr>
              <a:t>¥1,500 万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566160"/>
            <a:ext cx="23317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Microsoft YaHei"/>
              </a:rPr>
              <a:t>文创衍生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4023360"/>
            <a:ext cx="23317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1">
                <a:solidFill>
                  <a:srgbClr val="D9C9A8"/>
                </a:solidFill>
                <a:latin typeface="Microsoft YaHei"/>
              </a:rPr>
              <a:t>4 类核心 + 6 类延伸 SKU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961120" y="2606040"/>
            <a:ext cx="2697480" cy="2011680"/>
          </a:xfrm>
          <a:prstGeom prst="rect">
            <a:avLst/>
          </a:prstGeom>
          <a:solidFill>
            <a:srgbClr val="1A16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0" y="2834640"/>
            <a:ext cx="2331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CC00"/>
                </a:solidFill>
                <a:latin typeface="Cormorant Garamond"/>
              </a:rPr>
              <a:t>¥1,200 万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0" y="3566160"/>
            <a:ext cx="23317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Microsoft YaHei"/>
              </a:rPr>
              <a:t>异业分润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0" y="4023360"/>
            <a:ext cx="23317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1">
                <a:solidFill>
                  <a:srgbClr val="D9C9A8"/>
                </a:solidFill>
                <a:latin typeface="Microsoft YaHei"/>
              </a:rPr>
              <a:t>5—10% 商户自动分账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4937760"/>
            <a:ext cx="11247120" cy="1417320"/>
          </a:xfrm>
          <a:prstGeom prst="rect">
            <a:avLst/>
          </a:prstGeom>
          <a:solidFill>
            <a:srgbClr val="EFE7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507492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1612"/>
                </a:solidFill>
                <a:latin typeface="Microsoft YaHei"/>
              </a:rPr>
              <a:t>游客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5440680"/>
            <a:ext cx="34747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7A5A3A"/>
                </a:solidFill>
                <a:latin typeface="Microsoft YaHei"/>
              </a:rPr>
              <a:t>买到有人文厚度、情绪闭环的旅行 — 而非套路打卡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97680" y="507492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C8552D"/>
                </a:solidFill>
                <a:latin typeface="Microsoft YaHei"/>
              </a:rPr>
              <a:t>本地商户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80" y="5440680"/>
            <a:ext cx="34747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7A5A3A"/>
                </a:solidFill>
                <a:latin typeface="Microsoft YaHei"/>
              </a:rPr>
              <a:t>通过 AI 大屏获得精准客流 + 自动分润 · 零获客成本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955280" y="507492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E5267"/>
                </a:solidFill>
                <a:latin typeface="Microsoft YaHei"/>
              </a:rPr>
              <a:t>文旅局 / 政府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55280" y="5440680"/>
            <a:ext cx="34747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7A5A3A"/>
                </a:solidFill>
                <a:latin typeface="Microsoft YaHei"/>
              </a:rPr>
              <a:t>获得叙事 IP + 数据 + 跨境文化外宣 · 可对接两岸融合战略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C8552D"/>
                </a:solidFill>
                <a:latin typeface="Cormorant Garamond"/>
              </a:rPr>
              <a:t>CHAPTER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1">
                <a:solidFill>
                  <a:srgbClr val="7A5A3A"/>
                </a:solidFill>
                <a:latin typeface="Cormorant Garamond"/>
              </a:rPr>
              <a:t>Risk 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1">
                <a:solidFill>
                  <a:srgbClr val="7A5A3A"/>
                </a:solidFill>
                <a:latin typeface="Cormorant Garamond"/>
              </a:rPr>
              <a:t>5 类风险 · 每类都有可执行预案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05840"/>
            <a:ext cx="1828800" cy="25400"/>
          </a:xfrm>
          <a:prstGeom prst="rect">
            <a:avLst/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1430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7A5A3A"/>
                </a:solidFill>
                <a:latin typeface="Microsoft YaHei"/>
              </a:rPr>
              <a:t>把可能让评委关心的问题，提前给出应对方案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1">
                <a:solidFill>
                  <a:srgbClr val="7A5A3A"/>
                </a:solidFill>
                <a:latin typeface="Cormorant Garamond"/>
              </a:rPr>
              <a:t>FUDAN · 2026 · 68 NM TWO SIDES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644652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1">
                <a:solidFill>
                  <a:srgbClr val="7A5A3A"/>
                </a:solidFill>
                <a:latin typeface="Cormorant Garamond"/>
              </a:rPr>
              <a:t>21 / 24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554480"/>
            <a:ext cx="11247120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D9C9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1554480"/>
            <a:ext cx="38100" cy="841248"/>
          </a:xfrm>
          <a:prstGeom prst="rect">
            <a:avLst/>
          </a:prstGeom>
          <a:solidFill>
            <a:srgbClr val="C855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1664208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C8552D"/>
                </a:solidFill>
                <a:latin typeface="Microsoft YaHei"/>
              </a:rPr>
              <a:t>① 自然不可控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01168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7A5A3A"/>
                </a:solidFill>
                <a:latin typeface="Microsoft YaHei"/>
              </a:rPr>
              <a:t>蓝眼泪未现 / 台风 / 大风浪封礁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17520" y="1719072"/>
            <a:ext cx="85953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A1612"/>
                </a:solidFill>
                <a:latin typeface="Microsoft YaHei"/>
              </a:rPr>
              <a:t>盲盒保险自动触发；台风启动"室内备选包"（古城非遗夜场+石厝故事会）；小程序免费改期或全额退款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487168"/>
            <a:ext cx="11247120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D9C9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2487168"/>
            <a:ext cx="38100" cy="841248"/>
          </a:xfrm>
          <a:prstGeom prst="rect">
            <a:avLst/>
          </a:prstGeom>
          <a:solidFill>
            <a:srgbClr val="C855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2596896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C8552D"/>
                </a:solidFill>
                <a:latin typeface="Microsoft YaHei"/>
              </a:rPr>
              <a:t>② 服务承载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2944368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7A5A3A"/>
                </a:solidFill>
                <a:latin typeface="Microsoft YaHei"/>
              </a:rPr>
              <a:t>节假日客流爆棚、民宿排队、讲解员不足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17520" y="2651760"/>
            <a:ext cx="85953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A1612"/>
                </a:solidFill>
                <a:latin typeface="Microsoft YaHei"/>
              </a:rPr>
              <a:t>限额制（B 档 ≤30 人/批，C 档 ≤12 人/批）；高峰期接入 AI 数字人讲解员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419856"/>
            <a:ext cx="11247120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D9C9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3419856"/>
            <a:ext cx="38100" cy="841248"/>
          </a:xfrm>
          <a:prstGeom prst="rect">
            <a:avLst/>
          </a:prstGeom>
          <a:solidFill>
            <a:srgbClr val="C855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529584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C8552D"/>
                </a:solidFill>
                <a:latin typeface="Microsoft YaHei"/>
              </a:rPr>
              <a:t>③ 政策合规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3877056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7A5A3A"/>
                </a:solidFill>
                <a:latin typeface="Microsoft YaHei"/>
              </a:rPr>
              <a:t>两岸内容审核 / 商户合规 / 游客信息保护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017520" y="3584448"/>
            <a:ext cx="85953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A1612"/>
                </a:solidFill>
                <a:latin typeface="Microsoft YaHei"/>
              </a:rPr>
              <a:t>预审机制 · 文旅局 / 台办联合审核；用户数据本地化存储 · 国密加密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4352544"/>
            <a:ext cx="11247120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D9C9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7200" y="4352544"/>
            <a:ext cx="38100" cy="841248"/>
          </a:xfrm>
          <a:prstGeom prst="rect">
            <a:avLst/>
          </a:prstGeom>
          <a:solidFill>
            <a:srgbClr val="C855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4462272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C8552D"/>
                </a:solidFill>
                <a:latin typeface="Microsoft YaHei"/>
              </a:rPr>
              <a:t>④ 版权安全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4809744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7A5A3A"/>
                </a:solidFill>
                <a:latin typeface="Microsoft YaHei"/>
              </a:rPr>
              <a:t>AI 生成内容、田野录音、文创衍生品版权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017520" y="4517136"/>
            <a:ext cx="85953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A1612"/>
                </a:solidFill>
                <a:latin typeface="Microsoft YaHei"/>
              </a:rPr>
              <a:t>AI 生成内容明确标注；商业版本由专业摄影师 / 配音师重制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5285232"/>
            <a:ext cx="11247120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D9C9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200" y="5285232"/>
            <a:ext cx="38100" cy="841248"/>
          </a:xfrm>
          <a:prstGeom prst="rect">
            <a:avLst/>
          </a:prstGeom>
          <a:solidFill>
            <a:srgbClr val="C855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" y="539496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C8552D"/>
                </a:solidFill>
                <a:latin typeface="Microsoft YaHei"/>
              </a:rPr>
              <a:t>⑤ 团队规模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5742432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7A5A3A"/>
                </a:solidFill>
                <a:latin typeface="Microsoft YaHei"/>
              </a:rPr>
              <a:t>3—5 人小团队能否承担运营？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017520" y="5449824"/>
            <a:ext cx="85953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A1612"/>
                </a:solidFill>
                <a:latin typeface="Microsoft YaHei"/>
              </a:rPr>
              <a:t>本地合伙人候选已就位；与平潭综合实验区文旅局 / 台青孵化基地建立合作意向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C8552D"/>
                </a:solidFill>
                <a:latin typeface="Cormorant Garamond"/>
              </a:rPr>
              <a:t>CHAPTER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1">
                <a:solidFill>
                  <a:srgbClr val="7A5A3A"/>
                </a:solidFill>
                <a:latin typeface="Cormorant Garamond"/>
              </a:rPr>
              <a:t>Public Website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1">
                <a:solidFill>
                  <a:srgbClr val="7A5A3A"/>
                </a:solidFill>
                <a:latin typeface="Cormorant Garamond"/>
              </a:rPr>
              <a:t>公开站点 · 双角色入口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05840"/>
            <a:ext cx="1828800" cy="25400"/>
          </a:xfrm>
          <a:prstGeom prst="rect">
            <a:avLst/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1430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7A5A3A"/>
                </a:solidFill>
                <a:latin typeface="Microsoft YaHei"/>
              </a:rPr>
              <a:t>面向游客的预订入口 + 面向运营方的能力展示 — 网站已可访问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1">
                <a:solidFill>
                  <a:srgbClr val="7A5A3A"/>
                </a:solidFill>
                <a:latin typeface="Cormorant Garamond"/>
              </a:rPr>
              <a:t>FUDAN · 2026 · 68 NM TWO SIDES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644652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1">
                <a:solidFill>
                  <a:srgbClr val="7A5A3A"/>
                </a:solidFill>
                <a:latin typeface="Cormorant Garamond"/>
              </a:rPr>
              <a:t>22 / 24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55448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A1612"/>
                </a:solidFill>
                <a:latin typeface="Microsoft YaHei"/>
              </a:rPr>
              <a:t>「68海里」官方站点 · 同一个网站，两个入口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468880"/>
            <a:ext cx="5486400" cy="2926080"/>
          </a:xfrm>
          <a:prstGeom prst="rect">
            <a:avLst/>
          </a:prstGeom>
          <a:solidFill>
            <a:srgbClr val="FFFFFF"/>
          </a:solidFill>
          <a:ln w="9525">
            <a:solidFill>
              <a:srgbClr val="D9C9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468880"/>
            <a:ext cx="5486400" cy="502920"/>
          </a:xfrm>
          <a:prstGeom prst="rect">
            <a:avLst/>
          </a:prstGeom>
          <a:solidFill>
            <a:srgbClr val="C855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256032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1">
                <a:solidFill>
                  <a:srgbClr val="FFCC00"/>
                </a:solidFill>
                <a:latin typeface="Cormorant Garamond"/>
              </a:rPr>
              <a:t>FOR TRAVELERS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310896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A1612"/>
                </a:solidFill>
                <a:latin typeface="Microsoft YaHei"/>
              </a:rPr>
              <a:t>游客通道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3703320"/>
            <a:ext cx="493776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7A5A3A"/>
                </a:solidFill>
                <a:latin typeface="Microsoft YaHei"/>
              </a:rPr>
              <a:t>› 3 档套餐预订（¥199 / ¥1,380 / ¥3,680）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4069080"/>
            <a:ext cx="493776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7A5A3A"/>
                </a:solidFill>
                <a:latin typeface="Microsoft YaHei"/>
              </a:rPr>
              <a:t>› ¥99 通行 PASS 卡 + 蓝眼泪盲盒保险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434840"/>
            <a:ext cx="493776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7A5A3A"/>
                </a:solidFill>
                <a:latin typeface="Microsoft YaHei"/>
              </a:rPr>
              <a:t>› 文创衍生品商城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4800600"/>
            <a:ext cx="493776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7A5A3A"/>
                </a:solidFill>
                <a:latin typeface="Microsoft YaHei"/>
              </a:rPr>
              <a:t>› AI 智慧文旅 6 模块入口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17920" y="2468880"/>
            <a:ext cx="5486400" cy="2926080"/>
          </a:xfrm>
          <a:prstGeom prst="rect">
            <a:avLst/>
          </a:prstGeom>
          <a:solidFill>
            <a:srgbClr val="FFFFFF"/>
          </a:solidFill>
          <a:ln w="9525">
            <a:solidFill>
              <a:srgbClr val="D9C9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17920" y="2468880"/>
            <a:ext cx="5486400" cy="502920"/>
          </a:xfrm>
          <a:prstGeom prst="rect">
            <a:avLst/>
          </a:prstGeom>
          <a:solidFill>
            <a:srgbClr val="0E52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46520" y="256032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1">
                <a:solidFill>
                  <a:srgbClr val="FFCC00"/>
                </a:solidFill>
                <a:latin typeface="Cormorant Garamond"/>
              </a:rPr>
              <a:t>FOR OPERATORS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46520" y="310896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A1612"/>
                </a:solidFill>
                <a:latin typeface="Microsoft YaHei"/>
              </a:rPr>
              <a:t>合作机构通道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0" y="3703320"/>
            <a:ext cx="493776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7A5A3A"/>
                </a:solidFill>
                <a:latin typeface="Microsoft YaHei"/>
              </a:rPr>
              <a:t>› 叙事 IP 资产 + 商业机制专利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0" y="4069080"/>
            <a:ext cx="493776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7A5A3A"/>
                </a:solidFill>
                <a:latin typeface="Microsoft YaHei"/>
              </a:rPr>
              <a:t>› AI 基础设施 + 异业自动分润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0" y="4434840"/>
            <a:ext cx="493776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7A5A3A"/>
                </a:solidFill>
                <a:latin typeface="Microsoft YaHei"/>
              </a:rPr>
              <a:t>› 海西区域协同战略 + 政策接口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0" y="4800600"/>
            <a:ext cx="493776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7A5A3A"/>
                </a:solidFill>
                <a:latin typeface="Microsoft YaHei"/>
              </a:rPr>
              <a:t>› B 端运营大屏 + 数据 API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5623560"/>
            <a:ext cx="11247120" cy="731520"/>
          </a:xfrm>
          <a:prstGeom prst="rect">
            <a:avLst/>
          </a:prstGeom>
          <a:solidFill>
            <a:srgbClr val="1A16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5715000"/>
            <a:ext cx="109728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FFCC00"/>
                </a:solidFill>
                <a:latin typeface="Cormorant Garamond"/>
              </a:rPr>
              <a:t>三个公网部署地址 · 任选其一即可访问：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59893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Microsoft YaHei"/>
              </a:rPr>
              <a:t>★ Cloudflare Pages: 68nm-two-sides.pages.dev   ·   GitHub Pages: alexguo921-ship-it.github.io/68nm-two-sides   ·   Vercel: 68nm-two-sides.vercel.app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C8552D"/>
                </a:solidFill>
                <a:latin typeface="Cormorant Garamond"/>
              </a:rPr>
              <a:t>CLOSING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1">
                <a:solidFill>
                  <a:srgbClr val="7A5A3A"/>
                </a:solidFill>
                <a:latin typeface="Cormorant Garamond"/>
              </a:rPr>
              <a:t>Three Closing Lines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1">
                <a:solidFill>
                  <a:srgbClr val="7A5A3A"/>
                </a:solidFill>
                <a:latin typeface="Cormorant Garamond"/>
              </a:rPr>
              <a:t>三句结语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05840"/>
            <a:ext cx="1828800" cy="25400"/>
          </a:xfrm>
          <a:prstGeom prst="rect">
            <a:avLst/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1430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7A5A3A"/>
                </a:solidFill>
                <a:latin typeface="Microsoft YaHei"/>
              </a:rPr>
              <a:t>我想留给评审与观众的三句话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1">
                <a:solidFill>
                  <a:srgbClr val="7A5A3A"/>
                </a:solidFill>
                <a:latin typeface="Cormorant Garamond"/>
              </a:rPr>
              <a:t>FUDAN · 2026 · 68 NM TWO SIDES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644652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1">
                <a:solidFill>
                  <a:srgbClr val="7A5A3A"/>
                </a:solidFill>
                <a:latin typeface="Cormorant Garamond"/>
              </a:rPr>
              <a:t>23 / 24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55448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1A1612"/>
                </a:solidFill>
                <a:latin typeface="Microsoft YaHei"/>
              </a:rPr>
              <a:t>从 个人故事 到 区域战略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560320"/>
            <a:ext cx="11247120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D9C9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560320"/>
            <a:ext cx="50800" cy="1188720"/>
          </a:xfrm>
          <a:prstGeom prst="rect">
            <a:avLst/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265176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1">
                <a:solidFill>
                  <a:srgbClr val="C8552D"/>
                </a:solidFill>
                <a:latin typeface="Cormorant Garamond"/>
              </a:rPr>
              <a:t>QUOTE 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2971800"/>
            <a:ext cx="104241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1A1612"/>
                </a:solidFill>
                <a:latin typeface="Microsoft YaHei"/>
              </a:rPr>
              <a:t>"我们不生产标准化的打卡点 ——
我们用 AI 与人文，重新翻译了这 68 海里的距离。"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931920"/>
            <a:ext cx="11247120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D9C9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3931920"/>
            <a:ext cx="50800" cy="1188720"/>
          </a:xfrm>
          <a:prstGeom prst="rect">
            <a:avLst/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402336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1">
                <a:solidFill>
                  <a:srgbClr val="C8552D"/>
                </a:solidFill>
                <a:latin typeface="Cormorant Garamond"/>
              </a:rPr>
              <a:t>QUOTE 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343400"/>
            <a:ext cx="104241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1A1612"/>
                </a:solidFill>
                <a:latin typeface="Microsoft YaHei"/>
              </a:rPr>
              <a:t>"当海风的粗粝感、两岸的乡音被技术转化为可感知、可消费的产品，
文化才真正具备了自我造血的生命力。"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5303520"/>
            <a:ext cx="11247120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D9C9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7200" y="5303520"/>
            <a:ext cx="50800" cy="1188720"/>
          </a:xfrm>
          <a:prstGeom prst="rect">
            <a:avLst/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39496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1">
                <a:solidFill>
                  <a:srgbClr val="C8552D"/>
                </a:solidFill>
                <a:latin typeface="Cormorant Garamond"/>
              </a:rPr>
              <a:t>QUOTE 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5715000"/>
            <a:ext cx="104241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1A1612"/>
                </a:solidFill>
                <a:latin typeface="Microsoft YaHei"/>
              </a:rPr>
              <a:t>"68 海里 —— 曾经是一段可被量化的地理距离。
今天，让它成为青年文化消费里、海西区域协同里、两岸融合发展里 —— 更容易被理解的距离。"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28600" y="228600"/>
            <a:ext cx="11734495" cy="25400"/>
          </a:xfrm>
          <a:prstGeom prst="rect">
            <a:avLst/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28600" y="6604000"/>
            <a:ext cx="11734495" cy="25400"/>
          </a:xfrm>
          <a:prstGeom prst="rect">
            <a:avLst/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28600" y="228600"/>
            <a:ext cx="25400" cy="6400800"/>
          </a:xfrm>
          <a:prstGeom prst="rect">
            <a:avLst/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937695" y="228600"/>
            <a:ext cx="25400" cy="6400800"/>
          </a:xfrm>
          <a:prstGeom prst="rect">
            <a:avLst/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0" y="1828800"/>
            <a:ext cx="1219169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1">
                <a:solidFill>
                  <a:srgbClr val="C8552D"/>
                </a:solidFill>
                <a:latin typeface="Cormorant Garamond"/>
              </a:rPr>
              <a:t>THANK YOU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2468880"/>
            <a:ext cx="12191695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000" b="1" i="0">
                <a:solidFill>
                  <a:srgbClr val="1A1612"/>
                </a:solidFill>
                <a:latin typeface="Microsoft YaHei"/>
              </a:rPr>
              <a:t>谢谢聆听</a:t>
            </a:r>
          </a:p>
        </p:txBody>
      </p:sp>
      <p:sp>
        <p:nvSpPr>
          <p:cNvPr id="9" name="Rectangle 8"/>
          <p:cNvSpPr/>
          <p:nvPr/>
        </p:nvSpPr>
        <p:spPr>
          <a:xfrm>
            <a:off x="5181447" y="4114800"/>
            <a:ext cx="1828800" cy="25400"/>
          </a:xfrm>
          <a:prstGeom prst="rect">
            <a:avLst/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0" y="4297680"/>
            <a:ext cx="1219169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1A1612"/>
                </a:solidFill>
                <a:latin typeface="Microsoft YaHei"/>
              </a:rPr>
              <a:t>68 海里 · 两面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0" y="4846320"/>
            <a:ext cx="1219169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0" i="1">
                <a:solidFill>
                  <a:srgbClr val="7A5A3A"/>
                </a:solidFill>
                <a:latin typeface="Microsoft YaHei"/>
              </a:rPr>
              <a:t>让一座岛被看见，也让一种语言被听见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0" y="5577840"/>
            <a:ext cx="1219169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C8552D"/>
                </a:solidFill>
                <a:latin typeface="Microsoft YaHei"/>
              </a:rPr>
              <a:t>郭嘉 · GUO JIA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0" y="5943600"/>
            <a:ext cx="1219169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 i="0">
                <a:solidFill>
                  <a:srgbClr val="7A5A3A"/>
                </a:solidFill>
                <a:latin typeface="Microsoft YaHei"/>
              </a:rPr>
              <a:t>复旦大学外国语言文学学院 · 翻译硕士 MTI · 25210120088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